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0" r:id="rId10"/>
    <p:sldId id="269" r:id="rId11"/>
    <p:sldId id="262" r:id="rId12"/>
    <p:sldId id="270" r:id="rId13"/>
    <p:sldId id="271" r:id="rId14"/>
    <p:sldId id="273" r:id="rId15"/>
    <p:sldId id="274" r:id="rId16"/>
    <p:sldId id="275" r:id="rId17"/>
    <p:sldId id="277" r:id="rId18"/>
    <p:sldId id="278" r:id="rId19"/>
    <p:sldId id="26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0000" y="1150000"/>
            <a:ext cx="9000000" cy="2650000"/>
          </a:xfrm>
        </p:spPr>
        <p:txBody>
          <a:bodyPr anchor="ctr">
            <a:norm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  <a:latin typeface="+mn-lt"/>
              </a:rPr>
              <a:t>Data Structures and Algorithms-3 (25CS2103E)</a:t>
            </a:r>
          </a:p>
          <a:p>
            <a:pPr algn="ctr">
              <a:spcBef>
                <a:spcPts val="2400"/>
              </a:spcBef>
            </a:pPr>
            <a:r>
              <a:rPr lang="en-US" sz="4400" b="1" dirty="0">
                <a:solidFill>
                  <a:srgbClr val="1F1F1F"/>
                </a:solidFill>
                <a:latin typeface="Times New Roman"/>
                <a:cs typeface="Times New Roman"/>
              </a:rPr>
              <a:t>TREE DIAMETER</a:t>
            </a:r>
            <a:br>
              <a:rPr lang="en-US" sz="4400" b="1" dirty="0"/>
            </a:br>
            <a:r>
              <a:rPr lang="en-US" sz="4400" b="1" dirty="0">
                <a:solidFill>
                  <a:srgbClr val="1F1F1F"/>
                </a:solidFill>
                <a:latin typeface="Times New Roman"/>
                <a:cs typeface="Times New Roman"/>
              </a:rPr>
              <a:t>COMPUTATION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50000" y="4300000"/>
            <a:ext cx="4700000" cy="1900000"/>
          </a:xfrm>
        </p:spPr>
        <p:txBody>
          <a:bodyPr anchor="t"/>
          <a:lstStyle/>
          <a:p>
            <a:pPr marL="0" indent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i="0" dirty="0">
                <a:solidFill>
                  <a:srgbClr val="C00000"/>
                </a:solidFill>
                <a:latin typeface="Times New Roman"/>
                <a:cs typeface="Times New Roman"/>
              </a:rPr>
              <a:t>Team Members</a:t>
            </a:r>
          </a:p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F1F1F"/>
                </a:solidFill>
                <a:latin typeface="Times New Roman"/>
                <a:cs typeface="Times New Roman"/>
              </a:rPr>
              <a:t>P. Nakshatra</a:t>
            </a:r>
            <a:r>
              <a:rPr lang="en-US" sz="2000" b="0" dirty="0">
                <a:solidFill>
                  <a:srgbClr val="1F1F1F"/>
                </a:solidFill>
                <a:latin typeface="Times New Roman"/>
                <a:cs typeface="Times New Roman"/>
              </a:rPr>
              <a:t> – 2520030243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2000" b="1" dirty="0">
                <a:solidFill>
                  <a:srgbClr val="1F1F1F"/>
                </a:solidFill>
                <a:latin typeface="Times New Roman"/>
                <a:cs typeface="Times New Roman"/>
              </a:rPr>
              <a:t>Ch. Navya Sai Sree</a:t>
            </a:r>
            <a:r>
              <a:rPr lang="en-US" sz="2000" dirty="0">
                <a:solidFill>
                  <a:srgbClr val="1F1F1F"/>
                </a:solidFill>
                <a:latin typeface="Times New Roman"/>
                <a:cs typeface="Times New Roman"/>
              </a:rPr>
              <a:t> – 2520030244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2000" b="1" dirty="0">
                <a:solidFill>
                  <a:srgbClr val="1F1F1F"/>
                </a:solidFill>
                <a:latin typeface="Times New Roman"/>
                <a:cs typeface="Times New Roman"/>
              </a:rPr>
              <a:t>B. Himavanth Sai Ganesh</a:t>
            </a:r>
            <a:r>
              <a:rPr lang="en-US" sz="2000" dirty="0">
                <a:solidFill>
                  <a:srgbClr val="1F1F1F"/>
                </a:solidFill>
                <a:latin typeface="Times New Roman"/>
                <a:cs typeface="Times New Roman"/>
              </a:rPr>
              <a:t> – 2520030429</a:t>
            </a:r>
          </a:p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endParaRPr lang="en-US" sz="2000" b="0" dirty="0">
              <a:solidFill>
                <a:srgbClr val="1F1F1F"/>
              </a:solidFill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032432-CEE5-1E53-C571-3163CCE0581A}"/>
              </a:ext>
            </a:extLst>
          </p:cNvPr>
          <p:cNvSpPr txBox="1"/>
          <p:nvPr/>
        </p:nvSpPr>
        <p:spPr>
          <a:xfrm>
            <a:off x="7750000" y="4300000"/>
            <a:ext cx="4000000" cy="19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i="0" dirty="0">
                <a:solidFill>
                  <a:srgbClr val="C00000"/>
                </a:solidFill>
                <a:latin typeface="Times New Roman"/>
                <a:cs typeface="Times New Roman"/>
              </a:rPr>
              <a:t>Under the Esteemed Guidance of</a:t>
            </a:r>
          </a:p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b="1" i="0" dirty="0">
                <a:solidFill>
                  <a:srgbClr val="1F1F1F"/>
                </a:solidFill>
                <a:latin typeface="Times New Roman"/>
                <a:cs typeface="Times New Roman"/>
              </a:rPr>
              <a:t>Ms. D. Swathi</a:t>
            </a:r>
          </a:p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000" b="0" i="0" dirty="0">
                <a:solidFill>
                  <a:srgbClr val="1F1F1F"/>
                </a:solidFill>
                <a:latin typeface="Times New Roman"/>
                <a:cs typeface="Times New Roman"/>
              </a:rPr>
              <a:t>Assistant Professor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1F1F1F"/>
                </a:solidFill>
                <a:latin typeface="Times New Roman"/>
                <a:cs typeface="Times New Roman"/>
              </a:rPr>
              <a:t>Department of Computer Science and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3736109" y="187903"/>
            <a:ext cx="47197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  <p:sp>
        <p:nvSpPr>
          <p:cNvPr id="101" name="Number 1"/>
          <p:cNvSpPr/>
          <p:nvPr/>
        </p:nvSpPr>
        <p:spPr>
          <a:xfrm>
            <a:off x="3800000" y="1150000"/>
            <a:ext cx="420000" cy="42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102" name="Item 1"/>
          <p:cNvSpPr txBox="1"/>
          <p:nvPr/>
        </p:nvSpPr>
        <p:spPr>
          <a:xfrm>
            <a:off x="4370000" y="1150000"/>
            <a:ext cx="60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1F1F1F"/>
                </a:solidFill>
                <a:latin typeface="Times New Roman"/>
                <a:cs typeface="Times New Roman"/>
              </a:rPr>
              <a:t>Abstract</a:t>
            </a:r>
          </a:p>
        </p:txBody>
      </p:sp>
      <p:sp>
        <p:nvSpPr>
          <p:cNvPr id="103" name="Number 2"/>
          <p:cNvSpPr/>
          <p:nvPr/>
        </p:nvSpPr>
        <p:spPr>
          <a:xfrm>
            <a:off x="3800000" y="1720000"/>
            <a:ext cx="420000" cy="42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104" name="Item 2"/>
          <p:cNvSpPr txBox="1"/>
          <p:nvPr/>
        </p:nvSpPr>
        <p:spPr>
          <a:xfrm>
            <a:off x="4370000" y="1720000"/>
            <a:ext cx="60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1F1F1F"/>
                </a:solidFill>
                <a:latin typeface="Times New Roman"/>
                <a:cs typeface="Times New Roman"/>
              </a:rPr>
              <a:t>Introduction</a:t>
            </a:r>
          </a:p>
        </p:txBody>
      </p:sp>
      <p:sp>
        <p:nvSpPr>
          <p:cNvPr id="105" name="Number 3"/>
          <p:cNvSpPr/>
          <p:nvPr/>
        </p:nvSpPr>
        <p:spPr>
          <a:xfrm>
            <a:off x="3800000" y="2290000"/>
            <a:ext cx="420000" cy="42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106" name="Item 3"/>
          <p:cNvSpPr txBox="1"/>
          <p:nvPr/>
        </p:nvSpPr>
        <p:spPr>
          <a:xfrm>
            <a:off x="4370000" y="2290000"/>
            <a:ext cx="60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1F1F1F"/>
                </a:solidFill>
                <a:latin typeface="Times New Roman"/>
                <a:cs typeface="Times New Roman"/>
              </a:rPr>
              <a:t>Literature Survey</a:t>
            </a:r>
          </a:p>
        </p:txBody>
      </p:sp>
      <p:sp>
        <p:nvSpPr>
          <p:cNvPr id="107" name="Number 4"/>
          <p:cNvSpPr/>
          <p:nvPr/>
        </p:nvSpPr>
        <p:spPr>
          <a:xfrm>
            <a:off x="3800000" y="2860000"/>
            <a:ext cx="420000" cy="42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108" name="Item 4"/>
          <p:cNvSpPr txBox="1"/>
          <p:nvPr/>
        </p:nvSpPr>
        <p:spPr>
          <a:xfrm>
            <a:off x="4370000" y="2860000"/>
            <a:ext cx="60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1F1F1F"/>
                </a:solidFill>
                <a:latin typeface="Times New Roman"/>
                <a:cs typeface="Times New Roman"/>
              </a:rPr>
              <a:t>Problem Statement and Objectives</a:t>
            </a:r>
          </a:p>
        </p:txBody>
      </p:sp>
      <p:sp>
        <p:nvSpPr>
          <p:cNvPr id="109" name="Number 5"/>
          <p:cNvSpPr/>
          <p:nvPr/>
        </p:nvSpPr>
        <p:spPr>
          <a:xfrm>
            <a:off x="3800000" y="3430000"/>
            <a:ext cx="420000" cy="42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</a:p>
        </p:txBody>
      </p:sp>
      <p:sp>
        <p:nvSpPr>
          <p:cNvPr id="110" name="Item 5"/>
          <p:cNvSpPr txBox="1"/>
          <p:nvPr/>
        </p:nvSpPr>
        <p:spPr>
          <a:xfrm>
            <a:off x="4370000" y="3430000"/>
            <a:ext cx="60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1F1F1F"/>
                </a:solidFill>
                <a:latin typeface="Times New Roman"/>
                <a:cs typeface="Times New Roman"/>
              </a:rPr>
              <a:t>Flowchart</a:t>
            </a:r>
          </a:p>
        </p:txBody>
      </p:sp>
      <p:sp>
        <p:nvSpPr>
          <p:cNvPr id="111" name="Number 6"/>
          <p:cNvSpPr/>
          <p:nvPr/>
        </p:nvSpPr>
        <p:spPr>
          <a:xfrm>
            <a:off x="3800000" y="4000000"/>
            <a:ext cx="420000" cy="42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112" name="Item 6"/>
          <p:cNvSpPr txBox="1"/>
          <p:nvPr/>
        </p:nvSpPr>
        <p:spPr>
          <a:xfrm>
            <a:off x="4370000" y="4000000"/>
            <a:ext cx="60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1F1F1F"/>
                </a:solidFill>
                <a:latin typeface="Times New Roman"/>
                <a:cs typeface="Times New Roman"/>
              </a:rPr>
              <a:t>Results</a:t>
            </a:r>
          </a:p>
        </p:txBody>
      </p:sp>
      <p:sp>
        <p:nvSpPr>
          <p:cNvPr id="113" name="Number 7"/>
          <p:cNvSpPr/>
          <p:nvPr/>
        </p:nvSpPr>
        <p:spPr>
          <a:xfrm>
            <a:off x="3800000" y="4570000"/>
            <a:ext cx="420000" cy="42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</a:p>
        </p:txBody>
      </p:sp>
      <p:sp>
        <p:nvSpPr>
          <p:cNvPr id="114" name="Item 7"/>
          <p:cNvSpPr txBox="1"/>
          <p:nvPr/>
        </p:nvSpPr>
        <p:spPr>
          <a:xfrm>
            <a:off x="4370000" y="4570000"/>
            <a:ext cx="60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r>
              <a:rPr lang="en-US" sz="2200">
                <a:solidFill>
                  <a:srgbClr val="1F1F1F"/>
                </a:solidFill>
                <a:latin typeface="Times New Roman"/>
                <a:cs typeface="Times New Roman"/>
              </a:rPr>
              <a:t>Conclusion</a:t>
            </a:r>
            <a:endParaRPr lang="en-US" sz="2200" dirty="0">
              <a:solidFill>
                <a:srgbClr val="1F1F1F"/>
              </a:solidFill>
              <a:latin typeface="Times New Roman"/>
              <a:cs typeface="Times New Roman"/>
            </a:endParaRPr>
          </a:p>
        </p:txBody>
      </p:sp>
      <p:sp>
        <p:nvSpPr>
          <p:cNvPr id="115" name="Number 8"/>
          <p:cNvSpPr/>
          <p:nvPr/>
        </p:nvSpPr>
        <p:spPr>
          <a:xfrm>
            <a:off x="3800000" y="5140000"/>
            <a:ext cx="420000" cy="42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</a:p>
        </p:txBody>
      </p:sp>
      <p:sp>
        <p:nvSpPr>
          <p:cNvPr id="116" name="Item 8"/>
          <p:cNvSpPr txBox="1"/>
          <p:nvPr/>
        </p:nvSpPr>
        <p:spPr>
          <a:xfrm>
            <a:off x="4370000" y="5140000"/>
            <a:ext cx="60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r>
              <a:rPr lang="en-US" sz="2200">
                <a:solidFill>
                  <a:srgbClr val="1F1F1F"/>
                </a:solidFill>
                <a:latin typeface="Times New Roman"/>
                <a:cs typeface="Times New Roman"/>
              </a:rPr>
              <a:t>Future Scope</a:t>
            </a:r>
            <a:endParaRPr lang="en-US" sz="2200" dirty="0">
              <a:solidFill>
                <a:srgbClr val="1F1F1F"/>
              </a:solidFill>
              <a:latin typeface="Times New Roman"/>
              <a:cs typeface="Times New Roman"/>
            </a:endParaRPr>
          </a:p>
        </p:txBody>
      </p:sp>
      <p:sp>
        <p:nvSpPr>
          <p:cNvPr id="117" name="Number 9"/>
          <p:cNvSpPr/>
          <p:nvPr/>
        </p:nvSpPr>
        <p:spPr>
          <a:xfrm>
            <a:off x="3800000" y="5710000"/>
            <a:ext cx="420000" cy="42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Times New Roman"/>
                <a:cs typeface="Times New Roman"/>
              </a:rPr>
              <a:t>9</a:t>
            </a:r>
          </a:p>
        </p:txBody>
      </p:sp>
      <p:sp>
        <p:nvSpPr>
          <p:cNvPr id="118" name="Item 9"/>
          <p:cNvSpPr txBox="1"/>
          <p:nvPr/>
        </p:nvSpPr>
        <p:spPr>
          <a:xfrm>
            <a:off x="4370000" y="5710000"/>
            <a:ext cx="60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1F1F1F"/>
                </a:solidFill>
                <a:latin typeface="Times New Roman"/>
                <a:cs typeface="Times New Roman"/>
              </a:rPr>
              <a:t>Gio Tag Photos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736109" y="187903"/>
            <a:ext cx="47197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101" name="Abstract points"/>
          <p:cNvSpPr txBox="1"/>
          <p:nvPr/>
        </p:nvSpPr>
        <p:spPr>
          <a:xfrm>
            <a:off x="2950000" y="1250000"/>
            <a:ext cx="8800000" cy="47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 algn="l">
              <a:spcBef>
                <a:spcPts val="0"/>
              </a:spcBef>
              <a:spcAft>
                <a:spcPts val="22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2600" b="0" i="0" dirty="0">
                <a:solidFill>
                  <a:srgbClr val="1F1F1F"/>
                </a:solidFill>
                <a:latin typeface="Times New Roman"/>
                <a:cs typeface="Times New Roman"/>
              </a:rPr>
              <a:t>Calculates the </a:t>
            </a:r>
            <a:r>
              <a:rPr lang="en-US" sz="2600" b="1" i="0" dirty="0">
                <a:solidFill>
                  <a:srgbClr val="1F1F1F"/>
                </a:solidFill>
                <a:latin typeface="Times New Roman"/>
                <a:cs typeface="Times New Roman"/>
              </a:rPr>
              <a:t>diameter</a:t>
            </a:r>
            <a:r>
              <a:rPr lang="en-US" sz="2600" b="0" i="0" dirty="0">
                <a:solidFill>
                  <a:srgbClr val="1F1F1F"/>
                </a:solidFill>
                <a:latin typeface="Times New Roman"/>
                <a:cs typeface="Times New Roman"/>
              </a:rPr>
              <a:t> of a tree: the longest path between any two nodes, measured in edges.</a:t>
            </a:r>
          </a:p>
          <a:p>
            <a:pPr marL="342900" indent="-342900" algn="l">
              <a:spcBef>
                <a:spcPts val="0"/>
              </a:spcBef>
              <a:spcAft>
                <a:spcPts val="22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2600" b="0" i="0" dirty="0">
                <a:solidFill>
                  <a:srgbClr val="1F1F1F"/>
                </a:solidFill>
                <a:latin typeface="Times New Roman"/>
                <a:cs typeface="Times New Roman"/>
              </a:rPr>
              <a:t>Uses </a:t>
            </a:r>
            <a:r>
              <a:rPr lang="en-US" sz="2600" b="1" i="0" dirty="0">
                <a:solidFill>
                  <a:srgbClr val="1F1F1F"/>
                </a:solidFill>
                <a:latin typeface="Times New Roman"/>
                <a:cs typeface="Times New Roman"/>
              </a:rPr>
              <a:t>DFS</a:t>
            </a:r>
            <a:r>
              <a:rPr lang="en-US" sz="2600" b="0" i="0" dirty="0">
                <a:solidFill>
                  <a:srgbClr val="1F1F1F"/>
                </a:solidFill>
                <a:latin typeface="Times New Roman"/>
                <a:cs typeface="Times New Roman"/>
              </a:rPr>
              <a:t> and </a:t>
            </a:r>
            <a:r>
              <a:rPr lang="en-US" sz="2600" b="1" i="0" dirty="0">
                <a:solidFill>
                  <a:srgbClr val="1F1F1F"/>
                </a:solidFill>
                <a:latin typeface="Times New Roman"/>
                <a:cs typeface="Times New Roman"/>
              </a:rPr>
              <a:t>Tree Dynamic Programming</a:t>
            </a:r>
            <a:r>
              <a:rPr lang="en-US" sz="2600" b="0" i="0" dirty="0">
                <a:solidFill>
                  <a:srgbClr val="1F1F1F"/>
                </a:solidFill>
                <a:latin typeface="Times New Roman"/>
                <a:cs typeface="Times New Roman"/>
              </a:rPr>
              <a:t>, combining the two largest child heights at every node.</a:t>
            </a:r>
          </a:p>
          <a:p>
            <a:pPr marL="342900" indent="-342900" algn="l">
              <a:spcBef>
                <a:spcPts val="0"/>
              </a:spcBef>
              <a:spcAft>
                <a:spcPts val="22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2600" b="0" i="0" dirty="0">
                <a:solidFill>
                  <a:srgbClr val="1F1F1F"/>
                </a:solidFill>
                <a:latin typeface="Times New Roman"/>
                <a:cs typeface="Times New Roman"/>
              </a:rPr>
              <a:t>Takes the </a:t>
            </a:r>
            <a:r>
              <a:rPr lang="en-US" sz="2600" b="1" i="0" dirty="0">
                <a:solidFill>
                  <a:srgbClr val="1F1F1F"/>
                </a:solidFill>
                <a:latin typeface="Times New Roman"/>
                <a:cs typeface="Times New Roman"/>
              </a:rPr>
              <a:t>number of nodes and edges</a:t>
            </a:r>
            <a:r>
              <a:rPr lang="en-US" sz="2600" b="0" i="0" dirty="0">
                <a:solidFill>
                  <a:srgbClr val="1F1F1F"/>
                </a:solidFill>
                <a:latin typeface="Times New Roman"/>
                <a:cs typeface="Times New Roman"/>
              </a:rPr>
              <a:t> as input and stores the tree as an </a:t>
            </a:r>
            <a:r>
              <a:rPr lang="en-US" sz="2600" b="1" i="0" dirty="0">
                <a:solidFill>
                  <a:srgbClr val="1F1F1F"/>
                </a:solidFill>
                <a:latin typeface="Times New Roman"/>
                <a:cs typeface="Times New Roman"/>
              </a:rPr>
              <a:t>adjacency list</a:t>
            </a:r>
            <a:r>
              <a:rPr lang="en-US" sz="2600" b="0" i="0" dirty="0">
                <a:solidFill>
                  <a:srgbClr val="1F1F1F"/>
                </a:solidFill>
                <a:latin typeface="Times New Roman"/>
                <a:cs typeface="Times New Roman"/>
              </a:rPr>
              <a:t>.</a:t>
            </a:r>
          </a:p>
          <a:p>
            <a:pPr marL="342900" indent="-342900" algn="l">
              <a:spcBef>
                <a:spcPts val="0"/>
              </a:spcBef>
              <a:spcAft>
                <a:spcPts val="22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2600" b="1" i="0" dirty="0">
                <a:solidFill>
                  <a:srgbClr val="1F1F1F"/>
                </a:solidFill>
                <a:latin typeface="Times New Roman"/>
                <a:cs typeface="Times New Roman"/>
              </a:rPr>
              <a:t>Reconstructs</a:t>
            </a:r>
            <a:r>
              <a:rPr lang="en-US" sz="2600" b="0" i="0" dirty="0">
                <a:solidFill>
                  <a:srgbClr val="1F1F1F"/>
                </a:solidFill>
                <a:latin typeface="Times New Roman"/>
                <a:cs typeface="Times New Roman"/>
              </a:rPr>
              <a:t> the complete longest path (the diameter path).</a:t>
            </a:r>
          </a:p>
          <a:p>
            <a:pPr marL="342900" indent="-342900" algn="l">
              <a:spcBef>
                <a:spcPts val="0"/>
              </a:spcBef>
              <a:spcAft>
                <a:spcPts val="22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2600" b="0" i="0" dirty="0">
                <a:solidFill>
                  <a:srgbClr val="1F1F1F"/>
                </a:solidFill>
                <a:latin typeface="Times New Roman"/>
                <a:cs typeface="Times New Roman"/>
              </a:rPr>
              <a:t>A </a:t>
            </a:r>
            <a:r>
              <a:rPr lang="en-US" sz="2600" b="1" i="0" dirty="0">
                <a:solidFill>
                  <a:srgbClr val="1F1F1F"/>
                </a:solidFill>
                <a:latin typeface="Times New Roman"/>
                <a:cs typeface="Times New Roman"/>
              </a:rPr>
              <a:t>Java Swing GUI</a:t>
            </a:r>
            <a:r>
              <a:rPr lang="en-US" sz="2600" b="0" i="0" dirty="0">
                <a:solidFill>
                  <a:srgbClr val="1F1F1F"/>
                </a:solidFill>
                <a:latin typeface="Times New Roman"/>
                <a:cs typeface="Times New Roman"/>
              </a:rPr>
              <a:t> highlights the diameter path on the tree.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736109" y="187903"/>
            <a:ext cx="47197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101" name="Introduction points"/>
          <p:cNvSpPr txBox="1"/>
          <p:nvPr/>
        </p:nvSpPr>
        <p:spPr>
          <a:xfrm>
            <a:off x="2950000" y="1150000"/>
            <a:ext cx="8800000" cy="28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 algn="l"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2400" b="0" i="0" dirty="0">
                <a:solidFill>
                  <a:srgbClr val="1F1F1F"/>
                </a:solidFill>
                <a:latin typeface="Times New Roman"/>
                <a:cs typeface="Times New Roman"/>
              </a:rPr>
              <a:t>A </a:t>
            </a:r>
            <a:r>
              <a:rPr lang="en-US" sz="2400" b="1" i="0" dirty="0">
                <a:solidFill>
                  <a:srgbClr val="1F1F1F"/>
                </a:solidFill>
                <a:latin typeface="Times New Roman"/>
                <a:cs typeface="Times New Roman"/>
              </a:rPr>
              <a:t>tree</a:t>
            </a:r>
            <a:r>
              <a:rPr lang="en-US" sz="2400" b="0" i="0" dirty="0">
                <a:solidFill>
                  <a:srgbClr val="1F1F1F"/>
                </a:solidFill>
                <a:latin typeface="Times New Roman"/>
                <a:cs typeface="Times New Roman"/>
              </a:rPr>
              <a:t> is a connected, non-linear data structure of nodes and edges with no cycles.</a:t>
            </a:r>
          </a:p>
          <a:p>
            <a:pPr marL="342900" indent="-342900" algn="l"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2400" b="0" i="0" dirty="0">
                <a:solidFill>
                  <a:srgbClr val="1F1F1F"/>
                </a:solidFill>
                <a:latin typeface="Times New Roman"/>
                <a:cs typeface="Times New Roman"/>
              </a:rPr>
              <a:t>Trees are used to represent hierarchical relationships in computer science.</a:t>
            </a:r>
          </a:p>
          <a:p>
            <a:pPr marL="342900" indent="-342900" algn="l"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2400" b="0" i="0" dirty="0">
                <a:solidFill>
                  <a:srgbClr val="1F1F1F"/>
                </a:solidFill>
                <a:latin typeface="Times New Roman"/>
                <a:cs typeface="Times New Roman"/>
              </a:rPr>
              <a:t>The </a:t>
            </a:r>
            <a:r>
              <a:rPr lang="en-US" sz="2400" b="1" i="0" dirty="0">
                <a:solidFill>
                  <a:srgbClr val="1F1F1F"/>
                </a:solidFill>
                <a:latin typeface="Times New Roman"/>
                <a:cs typeface="Times New Roman"/>
              </a:rPr>
              <a:t>diameter</a:t>
            </a:r>
            <a:r>
              <a:rPr lang="en-US" sz="2400" b="0" i="0" dirty="0">
                <a:solidFill>
                  <a:srgbClr val="1F1F1F"/>
                </a:solidFill>
                <a:latin typeface="Times New Roman"/>
                <a:cs typeface="Times New Roman"/>
              </a:rPr>
              <a:t> of a tree is the longest path between any two nodes, measured in edges.</a:t>
            </a:r>
          </a:p>
        </p:txBody>
      </p:sp>
      <p:sp>
        <p:nvSpPr>
          <p:cNvPr id="102" name="Workflow label"/>
          <p:cNvSpPr txBox="1"/>
          <p:nvPr/>
        </p:nvSpPr>
        <p:spPr>
          <a:xfrm>
            <a:off x="2950000" y="4100000"/>
            <a:ext cx="88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C00000"/>
                </a:solidFill>
                <a:latin typeface="Times New Roman"/>
                <a:cs typeface="Times New Roman"/>
              </a:rPr>
              <a:t>Project Workflow</a:t>
            </a:r>
          </a:p>
        </p:txBody>
      </p:sp>
      <p:sp>
        <p:nvSpPr>
          <p:cNvPr id="103" name="Step 1"/>
          <p:cNvSpPr/>
          <p:nvPr/>
        </p:nvSpPr>
        <p:spPr>
          <a:xfrm>
            <a:off x="2950000" y="4750000"/>
            <a:ext cx="1500000" cy="120000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</p:spPr>
        <p:txBody>
          <a:bodyPr wrap="square" lIns="36000" tIns="45720" rIns="3600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FFFFFF"/>
                </a:solidFill>
                <a:latin typeface="Times New Roman"/>
                <a:cs typeface="Times New Roman"/>
              </a:rPr>
              <a:t>Input</a:t>
            </a:r>
          </a:p>
        </p:txBody>
      </p:sp>
      <p:cxnSp>
        <p:nvCxnSpPr>
          <p:cNvPr id="104" name="Arrow 1"/>
          <p:cNvCxnSpPr/>
          <p:nvPr/>
        </p:nvCxnSpPr>
        <p:spPr>
          <a:xfrm>
            <a:off x="4480000" y="5350000"/>
            <a:ext cx="265000" cy="0"/>
          </a:xfrm>
          <a:prstGeom prst="straightConnector1">
            <a:avLst/>
          </a:prstGeom>
          <a:ln w="25400">
            <a:solidFill>
              <a:srgbClr val="1F1F1F"/>
            </a:solidFill>
            <a:tailEnd type="triangle" w="med" len="med"/>
          </a:ln>
        </p:spPr>
      </p:cxnSp>
      <p:sp>
        <p:nvSpPr>
          <p:cNvPr id="105" name="Step 2"/>
          <p:cNvSpPr/>
          <p:nvPr/>
        </p:nvSpPr>
        <p:spPr>
          <a:xfrm>
            <a:off x="4775000" y="4750000"/>
            <a:ext cx="1500000" cy="120000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</p:spPr>
        <p:txBody>
          <a:bodyPr wrap="square" lIns="36000" tIns="45720" rIns="3600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FFFFFF"/>
                </a:solidFill>
                <a:latin typeface="Times New Roman"/>
                <a:cs typeface="Times New Roman"/>
              </a:rPr>
              <a:t>Tree Construction</a:t>
            </a:r>
          </a:p>
        </p:txBody>
      </p:sp>
      <p:cxnSp>
        <p:nvCxnSpPr>
          <p:cNvPr id="106" name="Arrow 2"/>
          <p:cNvCxnSpPr/>
          <p:nvPr/>
        </p:nvCxnSpPr>
        <p:spPr>
          <a:xfrm>
            <a:off x="6305000" y="5350000"/>
            <a:ext cx="265000" cy="0"/>
          </a:xfrm>
          <a:prstGeom prst="straightConnector1">
            <a:avLst/>
          </a:prstGeom>
          <a:ln w="25400">
            <a:solidFill>
              <a:srgbClr val="1F1F1F"/>
            </a:solidFill>
            <a:tailEnd type="triangle" w="med" len="med"/>
          </a:ln>
        </p:spPr>
      </p:cxnSp>
      <p:sp>
        <p:nvSpPr>
          <p:cNvPr id="107" name="Step 3"/>
          <p:cNvSpPr/>
          <p:nvPr/>
        </p:nvSpPr>
        <p:spPr>
          <a:xfrm>
            <a:off x="6600000" y="4750000"/>
            <a:ext cx="1500000" cy="120000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</p:spPr>
        <p:txBody>
          <a:bodyPr wrap="square" lIns="36000" tIns="45720" rIns="3600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FFFFFF"/>
                </a:solidFill>
                <a:latin typeface="Times New Roman"/>
                <a:cs typeface="Times New Roman"/>
              </a:rPr>
              <a:t>DFS and Tree DP</a:t>
            </a:r>
          </a:p>
        </p:txBody>
      </p:sp>
      <p:cxnSp>
        <p:nvCxnSpPr>
          <p:cNvPr id="108" name="Arrow 3"/>
          <p:cNvCxnSpPr/>
          <p:nvPr/>
        </p:nvCxnSpPr>
        <p:spPr>
          <a:xfrm>
            <a:off x="8130000" y="5350000"/>
            <a:ext cx="265000" cy="0"/>
          </a:xfrm>
          <a:prstGeom prst="straightConnector1">
            <a:avLst/>
          </a:prstGeom>
          <a:ln w="25400">
            <a:solidFill>
              <a:srgbClr val="1F1F1F"/>
            </a:solidFill>
            <a:tailEnd type="triangle" w="med" len="med"/>
          </a:ln>
        </p:spPr>
      </p:cxnSp>
      <p:sp>
        <p:nvSpPr>
          <p:cNvPr id="109" name="Step 4"/>
          <p:cNvSpPr/>
          <p:nvPr/>
        </p:nvSpPr>
        <p:spPr>
          <a:xfrm>
            <a:off x="8425000" y="4750000"/>
            <a:ext cx="1500000" cy="120000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</p:spPr>
        <p:txBody>
          <a:bodyPr wrap="square" lIns="36000" tIns="45720" rIns="3600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FFFFFF"/>
                </a:solidFill>
                <a:latin typeface="Times New Roman"/>
                <a:cs typeface="Times New Roman"/>
              </a:rPr>
              <a:t>Diameter Calculation</a:t>
            </a:r>
          </a:p>
        </p:txBody>
      </p:sp>
      <p:cxnSp>
        <p:nvCxnSpPr>
          <p:cNvPr id="110" name="Arrow 4"/>
          <p:cNvCxnSpPr/>
          <p:nvPr/>
        </p:nvCxnSpPr>
        <p:spPr>
          <a:xfrm>
            <a:off x="9955000" y="5350000"/>
            <a:ext cx="265000" cy="0"/>
          </a:xfrm>
          <a:prstGeom prst="straightConnector1">
            <a:avLst/>
          </a:prstGeom>
          <a:ln w="25400">
            <a:solidFill>
              <a:srgbClr val="1F1F1F"/>
            </a:solidFill>
            <a:tailEnd type="triangle" w="med" len="med"/>
          </a:ln>
        </p:spPr>
      </p:cxnSp>
      <p:sp>
        <p:nvSpPr>
          <p:cNvPr id="111" name="Step 5"/>
          <p:cNvSpPr/>
          <p:nvPr/>
        </p:nvSpPr>
        <p:spPr>
          <a:xfrm>
            <a:off x="10250000" y="4750000"/>
            <a:ext cx="1500000" cy="120000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</p:spPr>
        <p:txBody>
          <a:bodyPr wrap="square" lIns="36000" tIns="45720" rIns="3600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FFFFFF"/>
                </a:solidFill>
                <a:latin typeface="Times New Roman"/>
                <a:cs typeface="Times New Roman"/>
              </a:rPr>
              <a:t>Path Visualization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736109" y="187903"/>
            <a:ext cx="47197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sp>
        <p:nvSpPr>
          <p:cNvPr id="101" name="Row 1 bar"/>
          <p:cNvSpPr/>
          <p:nvPr/>
        </p:nvSpPr>
        <p:spPr>
          <a:xfrm>
            <a:off x="2950000" y="1100000"/>
            <a:ext cx="8800000" cy="910000"/>
          </a:xfrm>
          <a:prstGeom prst="roundRect">
            <a:avLst>
              <a:gd name="adj" fmla="val 12000"/>
            </a:avLst>
          </a:prstGeom>
          <a:solidFill>
            <a:srgbClr val="FBEDED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02" name="Row 1 concept"/>
          <p:cNvSpPr/>
          <p:nvPr/>
        </p:nvSpPr>
        <p:spPr>
          <a:xfrm>
            <a:off x="2950000" y="1100000"/>
            <a:ext cx="2700000" cy="91000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FFFFFF"/>
                </a:solidFill>
                <a:latin typeface="Times New Roman"/>
                <a:cs typeface="Times New Roman"/>
              </a:rPr>
              <a:t>Tree Traversal</a:t>
            </a:r>
          </a:p>
        </p:txBody>
      </p:sp>
      <p:sp>
        <p:nvSpPr>
          <p:cNvPr id="103" name="Row 1 text"/>
          <p:cNvSpPr txBox="1"/>
          <p:nvPr/>
        </p:nvSpPr>
        <p:spPr>
          <a:xfrm>
            <a:off x="5750000" y="1100000"/>
            <a:ext cx="5950000" cy="91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1F1F1F"/>
                </a:solidFill>
                <a:latin typeface="Times New Roman"/>
                <a:cs typeface="Times New Roman"/>
              </a:rPr>
              <a:t>Visiting every node in a systematic order to study the tree structure.</a:t>
            </a:r>
          </a:p>
        </p:txBody>
      </p:sp>
      <p:sp>
        <p:nvSpPr>
          <p:cNvPr id="104" name="Row 2 bar"/>
          <p:cNvSpPr/>
          <p:nvPr/>
        </p:nvSpPr>
        <p:spPr>
          <a:xfrm>
            <a:off x="2950000" y="2175000"/>
            <a:ext cx="8800000" cy="910000"/>
          </a:xfrm>
          <a:prstGeom prst="roundRect">
            <a:avLst>
              <a:gd name="adj" fmla="val 12000"/>
            </a:avLst>
          </a:prstGeom>
          <a:solidFill>
            <a:srgbClr val="FBEDED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05" name="Row 2 concept"/>
          <p:cNvSpPr/>
          <p:nvPr/>
        </p:nvSpPr>
        <p:spPr>
          <a:xfrm>
            <a:off x="2950000" y="2175000"/>
            <a:ext cx="2700000" cy="91000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FFFFFF"/>
                </a:solidFill>
                <a:latin typeface="Times New Roman"/>
                <a:cs typeface="Times New Roman"/>
              </a:rPr>
              <a:t>Recursion</a:t>
            </a:r>
          </a:p>
        </p:txBody>
      </p:sp>
      <p:sp>
        <p:nvSpPr>
          <p:cNvPr id="106" name="Row 2 text"/>
          <p:cNvSpPr txBox="1"/>
          <p:nvPr/>
        </p:nvSpPr>
        <p:spPr>
          <a:xfrm>
            <a:off x="5750000" y="2175000"/>
            <a:ext cx="5950000" cy="91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1F1F1F"/>
                </a:solidFill>
                <a:latin typeface="Times New Roman"/>
                <a:cs typeface="Times New Roman"/>
              </a:rPr>
              <a:t>A tree is made of smaller subtrees, so a function can process a node and then call itself on its children.</a:t>
            </a:r>
          </a:p>
        </p:txBody>
      </p:sp>
      <p:sp>
        <p:nvSpPr>
          <p:cNvPr id="107" name="Row 3 bar"/>
          <p:cNvSpPr/>
          <p:nvPr/>
        </p:nvSpPr>
        <p:spPr>
          <a:xfrm>
            <a:off x="2950000" y="3250000"/>
            <a:ext cx="8800000" cy="910000"/>
          </a:xfrm>
          <a:prstGeom prst="roundRect">
            <a:avLst>
              <a:gd name="adj" fmla="val 12000"/>
            </a:avLst>
          </a:prstGeom>
          <a:solidFill>
            <a:srgbClr val="FBEDED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08" name="Row 3 concept"/>
          <p:cNvSpPr/>
          <p:nvPr/>
        </p:nvSpPr>
        <p:spPr>
          <a:xfrm>
            <a:off x="2950000" y="3250000"/>
            <a:ext cx="2700000" cy="91000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FFFFFF"/>
                </a:solidFill>
                <a:latin typeface="Times New Roman"/>
                <a:cs typeface="Times New Roman"/>
              </a:rPr>
              <a:t>Dynamic Programming</a:t>
            </a:r>
          </a:p>
        </p:txBody>
      </p:sp>
      <p:sp>
        <p:nvSpPr>
          <p:cNvPr id="109" name="Row 3 text"/>
          <p:cNvSpPr txBox="1"/>
          <p:nvPr/>
        </p:nvSpPr>
        <p:spPr>
          <a:xfrm>
            <a:off x="5750000" y="3250000"/>
            <a:ext cx="5950000" cy="91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1F1F1F"/>
                </a:solidFill>
                <a:latin typeface="Times New Roman"/>
                <a:cs typeface="Times New Roman"/>
              </a:rPr>
              <a:t>Stores the results of smaller subproblems to avoid repeated calculations.</a:t>
            </a:r>
          </a:p>
        </p:txBody>
      </p:sp>
      <p:sp>
        <p:nvSpPr>
          <p:cNvPr id="110" name="Row 4 bar"/>
          <p:cNvSpPr/>
          <p:nvPr/>
        </p:nvSpPr>
        <p:spPr>
          <a:xfrm>
            <a:off x="2950000" y="4325000"/>
            <a:ext cx="8800000" cy="910000"/>
          </a:xfrm>
          <a:prstGeom prst="roundRect">
            <a:avLst>
              <a:gd name="adj" fmla="val 12000"/>
            </a:avLst>
          </a:prstGeom>
          <a:solidFill>
            <a:srgbClr val="FBEDED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11" name="Row 4 concept"/>
          <p:cNvSpPr/>
          <p:nvPr/>
        </p:nvSpPr>
        <p:spPr>
          <a:xfrm>
            <a:off x="2950000" y="4325000"/>
            <a:ext cx="2700000" cy="91000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FFFFFF"/>
                </a:solidFill>
                <a:latin typeface="Times New Roman"/>
                <a:cs typeface="Times New Roman"/>
              </a:rPr>
              <a:t>Tree Diameter</a:t>
            </a:r>
          </a:p>
        </p:txBody>
      </p:sp>
      <p:sp>
        <p:nvSpPr>
          <p:cNvPr id="112" name="Row 4 text"/>
          <p:cNvSpPr txBox="1"/>
          <p:nvPr/>
        </p:nvSpPr>
        <p:spPr>
          <a:xfrm>
            <a:off x="5750000" y="4325000"/>
            <a:ext cx="5950000" cy="91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1F1F1F"/>
                </a:solidFill>
                <a:latin typeface="Times New Roman"/>
                <a:cs typeface="Times New Roman"/>
              </a:rPr>
              <a:t>An O(N) method adds the two largest child heights at each node, avoiding a brute-force check of every node pair.</a:t>
            </a:r>
          </a:p>
        </p:txBody>
      </p:sp>
      <p:sp>
        <p:nvSpPr>
          <p:cNvPr id="113" name="Row 5 bar"/>
          <p:cNvSpPr/>
          <p:nvPr/>
        </p:nvSpPr>
        <p:spPr>
          <a:xfrm>
            <a:off x="2950000" y="5400000"/>
            <a:ext cx="8800000" cy="910000"/>
          </a:xfrm>
          <a:prstGeom prst="roundRect">
            <a:avLst>
              <a:gd name="adj" fmla="val 12000"/>
            </a:avLst>
          </a:prstGeom>
          <a:solidFill>
            <a:srgbClr val="FBEDED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14" name="Row 5 concept"/>
          <p:cNvSpPr/>
          <p:nvPr/>
        </p:nvSpPr>
        <p:spPr>
          <a:xfrm>
            <a:off x="2950000" y="5400000"/>
            <a:ext cx="2700000" cy="91000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FFFFFF"/>
                </a:solidFill>
                <a:latin typeface="Times New Roman"/>
                <a:cs typeface="Times New Roman"/>
              </a:rPr>
              <a:t>Graph Traversal</a:t>
            </a:r>
          </a:p>
        </p:txBody>
      </p:sp>
      <p:sp>
        <p:nvSpPr>
          <p:cNvPr id="115" name="Row 5 text"/>
          <p:cNvSpPr txBox="1"/>
          <p:nvPr/>
        </p:nvSpPr>
        <p:spPr>
          <a:xfrm>
            <a:off x="5750000" y="5400000"/>
            <a:ext cx="5950000" cy="91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1F1F1F"/>
                </a:solidFill>
                <a:latin typeface="Times New Roman"/>
                <a:cs typeface="Times New Roman"/>
              </a:rPr>
              <a:t>A tree is a special graph, so graph traversal ideas apply to its nodes and edges.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734188" y="221673"/>
            <a:ext cx="6723625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734188" y="187903"/>
            <a:ext cx="67236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</a:p>
        </p:txBody>
      </p:sp>
      <p:sp>
        <p:nvSpPr>
          <p:cNvPr id="101" name="Problem body"/>
          <p:cNvSpPr/>
          <p:nvPr/>
        </p:nvSpPr>
        <p:spPr>
          <a:xfrm>
            <a:off x="2950000" y="1250000"/>
            <a:ext cx="3950000" cy="4800000"/>
          </a:xfrm>
          <a:prstGeom prst="roundRect">
            <a:avLst>
              <a:gd name="adj" fmla="val 2784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02" name="Problem header"/>
          <p:cNvSpPr/>
          <p:nvPr/>
        </p:nvSpPr>
        <p:spPr>
          <a:xfrm>
            <a:off x="2950000" y="1250000"/>
            <a:ext cx="3950000" cy="520000"/>
          </a:xfrm>
          <a:prstGeom prst="round2SameRect">
            <a:avLst>
              <a:gd name="adj1" fmla="val 21153"/>
              <a:gd name="adj2" fmla="val 0"/>
            </a:avLst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FFFFFF"/>
                </a:solidFill>
                <a:latin typeface="Times New Roman"/>
                <a:cs typeface="Times New Roman"/>
              </a:rPr>
              <a:t>Problem Statement</a:t>
            </a:r>
          </a:p>
        </p:txBody>
      </p:sp>
      <p:sp>
        <p:nvSpPr>
          <p:cNvPr id="103" name="Problem text"/>
          <p:cNvSpPr txBox="1"/>
          <p:nvPr/>
        </p:nvSpPr>
        <p:spPr>
          <a:xfrm>
            <a:off x="3070000" y="1930000"/>
            <a:ext cx="3710000" cy="4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2200" b="0" i="0" dirty="0">
                <a:solidFill>
                  <a:srgbClr val="1F1F1F"/>
                </a:solidFill>
                <a:latin typeface="Times New Roman"/>
                <a:cs typeface="Times New Roman"/>
              </a:rPr>
              <a:t>Finding the longest path in a tree </a:t>
            </a:r>
            <a:r>
              <a:rPr lang="en-US" sz="2200" b="1" i="0" dirty="0">
                <a:solidFill>
                  <a:srgbClr val="1F1F1F"/>
                </a:solidFill>
                <a:latin typeface="Times New Roman"/>
                <a:cs typeface="Times New Roman"/>
              </a:rPr>
              <a:t>manually</a:t>
            </a:r>
            <a:r>
              <a:rPr lang="en-US" sz="2200" b="0" i="0" dirty="0">
                <a:solidFill>
                  <a:srgbClr val="1F1F1F"/>
                </a:solidFill>
                <a:latin typeface="Times New Roman"/>
                <a:cs typeface="Times New Roman"/>
              </a:rPr>
              <a:t> becomes difficult as the number of nodes increases.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1F1F1F"/>
                </a:solidFill>
                <a:latin typeface="Times New Roman"/>
                <a:cs typeface="Times New Roman"/>
              </a:rPr>
              <a:t>An </a:t>
            </a:r>
            <a:r>
              <a:rPr lang="en-US" sz="2200" b="1" i="0" dirty="0">
                <a:solidFill>
                  <a:srgbClr val="1F1F1F"/>
                </a:solidFill>
                <a:latin typeface="Times New Roman"/>
                <a:cs typeface="Times New Roman"/>
              </a:rPr>
              <a:t>automated system</a:t>
            </a:r>
            <a:r>
              <a:rPr lang="en-US" sz="2200" b="0" i="0" dirty="0">
                <a:solidFill>
                  <a:srgbClr val="1F1F1F"/>
                </a:solidFill>
                <a:latin typeface="Times New Roman"/>
                <a:cs typeface="Times New Roman"/>
              </a:rPr>
              <a:t> is needed to calculate the diameter efficiently and display the result clearly.</a:t>
            </a:r>
          </a:p>
        </p:txBody>
      </p:sp>
      <p:sp>
        <p:nvSpPr>
          <p:cNvPr id="104" name="Objectives body"/>
          <p:cNvSpPr/>
          <p:nvPr/>
        </p:nvSpPr>
        <p:spPr>
          <a:xfrm>
            <a:off x="7150000" y="1250000"/>
            <a:ext cx="4600000" cy="4800000"/>
          </a:xfrm>
          <a:prstGeom prst="roundRect">
            <a:avLst>
              <a:gd name="adj" fmla="val 2391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05" name="Objectives header"/>
          <p:cNvSpPr/>
          <p:nvPr/>
        </p:nvSpPr>
        <p:spPr>
          <a:xfrm>
            <a:off x="7150000" y="1250000"/>
            <a:ext cx="4600000" cy="520000"/>
          </a:xfrm>
          <a:prstGeom prst="round2SameRect">
            <a:avLst>
              <a:gd name="adj1" fmla="val 21153"/>
              <a:gd name="adj2" fmla="val 0"/>
            </a:avLst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FFFFFF"/>
                </a:solidFill>
                <a:latin typeface="Times New Roman"/>
                <a:cs typeface="Times New Roman"/>
              </a:rPr>
              <a:t>Objectives</a:t>
            </a:r>
          </a:p>
        </p:txBody>
      </p:sp>
      <p:sp>
        <p:nvSpPr>
          <p:cNvPr id="106" name="Objectives text"/>
          <p:cNvSpPr txBox="1"/>
          <p:nvPr/>
        </p:nvSpPr>
        <p:spPr>
          <a:xfrm>
            <a:off x="7270000" y="1930000"/>
            <a:ext cx="4360000" cy="4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 algn="l"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900" b="0" i="0" dirty="0">
                <a:solidFill>
                  <a:srgbClr val="1F1F1F"/>
                </a:solidFill>
                <a:latin typeface="Times New Roman"/>
                <a:cs typeface="Times New Roman"/>
              </a:rPr>
              <a:t>Accept nodes and edges as input.</a:t>
            </a:r>
          </a:p>
          <a:p>
            <a:pPr marL="342900" indent="-342900" algn="l"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900" b="0" i="0" dirty="0">
                <a:solidFill>
                  <a:srgbClr val="1F1F1F"/>
                </a:solidFill>
                <a:latin typeface="Times New Roman"/>
                <a:cs typeface="Times New Roman"/>
              </a:rPr>
              <a:t>Validate the tree structure.</a:t>
            </a:r>
          </a:p>
          <a:p>
            <a:pPr marL="342900" indent="-342900" algn="l"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900" b="0" i="0" dirty="0">
                <a:solidFill>
                  <a:srgbClr val="1F1F1F"/>
                </a:solidFill>
                <a:latin typeface="Times New Roman"/>
                <a:cs typeface="Times New Roman"/>
              </a:rPr>
              <a:t>Calculate the diameter using DFS and Tree DP.</a:t>
            </a:r>
          </a:p>
          <a:p>
            <a:pPr marL="342900" indent="-342900" algn="l"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900" b="0" i="0" dirty="0">
                <a:solidFill>
                  <a:srgbClr val="1F1F1F"/>
                </a:solidFill>
                <a:latin typeface="Times New Roman"/>
                <a:cs typeface="Times New Roman"/>
              </a:rPr>
              <a:t>Reconstruct the complete diameter path.</a:t>
            </a:r>
          </a:p>
          <a:p>
            <a:pPr marL="342900" indent="-342900" algn="l"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900" b="0" i="0" dirty="0">
                <a:solidFill>
                  <a:srgbClr val="1F1F1F"/>
                </a:solidFill>
                <a:latin typeface="Times New Roman"/>
                <a:cs typeface="Times New Roman"/>
              </a:rPr>
              <a:t>Highlight the path in the graphical interface.</a:t>
            </a:r>
          </a:p>
          <a:p>
            <a:pPr marL="342900" indent="-342900" algn="l"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900" b="0" i="0" dirty="0">
                <a:solidFill>
                  <a:srgbClr val="1F1F1F"/>
                </a:solidFill>
                <a:latin typeface="Times New Roman"/>
                <a:cs typeface="Times New Roman"/>
              </a:rPr>
              <a:t>Display the result and algorithm complexity.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736109" y="187903"/>
            <a:ext cx="47197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Flowchart</a:t>
            </a:r>
          </a:p>
        </p:txBody>
      </p:sp>
      <p:sp>
        <p:nvSpPr>
          <p:cNvPr id="101" name="Node 1"/>
          <p:cNvSpPr/>
          <p:nvPr/>
        </p:nvSpPr>
        <p:spPr>
          <a:xfrm>
            <a:off x="2950000" y="1550000"/>
            <a:ext cx="1600000" cy="11500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 w="25400">
            <a:solidFill>
              <a:srgbClr val="C00000"/>
            </a:solidFill>
          </a:ln>
        </p:spPr>
        <p:txBody>
          <a:bodyPr wrap="square" lIns="54864" tIns="45720" rIns="54864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FFFFFF"/>
                </a:solidFill>
                <a:latin typeface="Times New Roman"/>
                <a:cs typeface="Times New Roman"/>
              </a:rPr>
              <a:t>Start</a:t>
            </a:r>
          </a:p>
        </p:txBody>
      </p:sp>
      <p:sp>
        <p:nvSpPr>
          <p:cNvPr id="102" name="Node 2"/>
          <p:cNvSpPr/>
          <p:nvPr/>
        </p:nvSpPr>
        <p:spPr>
          <a:xfrm>
            <a:off x="4750000" y="1550000"/>
            <a:ext cx="1600000" cy="11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C00000"/>
            </a:solidFill>
          </a:ln>
        </p:spPr>
        <p:txBody>
          <a:bodyPr wrap="square" lIns="54864" tIns="45720" rIns="54864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dirty="0">
                <a:solidFill>
                  <a:srgbClr val="1F1F1F"/>
                </a:solidFill>
                <a:latin typeface="Times New Roman"/>
                <a:cs typeface="Times New Roman"/>
              </a:rPr>
              <a:t>Enter Number of Nodes and Edges</a:t>
            </a:r>
          </a:p>
        </p:txBody>
      </p:sp>
      <p:sp>
        <p:nvSpPr>
          <p:cNvPr id="103" name="Node 3"/>
          <p:cNvSpPr/>
          <p:nvPr/>
        </p:nvSpPr>
        <p:spPr>
          <a:xfrm>
            <a:off x="6550000" y="1550000"/>
            <a:ext cx="1600000" cy="11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C00000"/>
            </a:solidFill>
          </a:ln>
        </p:spPr>
        <p:txBody>
          <a:bodyPr wrap="square" lIns="54864" tIns="45720" rIns="54864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dirty="0">
                <a:solidFill>
                  <a:srgbClr val="1F1F1F"/>
                </a:solidFill>
                <a:latin typeface="Times New Roman"/>
                <a:cs typeface="Times New Roman"/>
              </a:rPr>
              <a:t>Validate Input</a:t>
            </a:r>
          </a:p>
        </p:txBody>
      </p:sp>
      <p:sp>
        <p:nvSpPr>
          <p:cNvPr id="104" name="Node 4"/>
          <p:cNvSpPr/>
          <p:nvPr/>
        </p:nvSpPr>
        <p:spPr>
          <a:xfrm>
            <a:off x="8350000" y="1550000"/>
            <a:ext cx="1600000" cy="11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C00000"/>
            </a:solidFill>
          </a:ln>
        </p:spPr>
        <p:txBody>
          <a:bodyPr wrap="square" lIns="54864" tIns="45720" rIns="54864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dirty="0">
                <a:solidFill>
                  <a:srgbClr val="1F1F1F"/>
                </a:solidFill>
                <a:latin typeface="Times New Roman"/>
                <a:cs typeface="Times New Roman"/>
              </a:rPr>
              <a:t>Construct Adjacency List</a:t>
            </a:r>
          </a:p>
        </p:txBody>
      </p:sp>
      <p:sp>
        <p:nvSpPr>
          <p:cNvPr id="105" name="Node 5"/>
          <p:cNvSpPr/>
          <p:nvPr/>
        </p:nvSpPr>
        <p:spPr>
          <a:xfrm>
            <a:off x="10150000" y="1550000"/>
            <a:ext cx="1600000" cy="11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C00000"/>
            </a:solidFill>
          </a:ln>
        </p:spPr>
        <p:txBody>
          <a:bodyPr wrap="square" lIns="54864" tIns="45720" rIns="54864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dirty="0">
                <a:solidFill>
                  <a:srgbClr val="1F1F1F"/>
                </a:solidFill>
                <a:latin typeface="Times New Roman"/>
                <a:cs typeface="Times New Roman"/>
              </a:rPr>
              <a:t>Check Tree Validity</a:t>
            </a:r>
          </a:p>
        </p:txBody>
      </p:sp>
      <p:sp>
        <p:nvSpPr>
          <p:cNvPr id="106" name="Node 6"/>
          <p:cNvSpPr/>
          <p:nvPr/>
        </p:nvSpPr>
        <p:spPr>
          <a:xfrm>
            <a:off x="10150000" y="3750000"/>
            <a:ext cx="1600000" cy="11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C00000"/>
            </a:solidFill>
          </a:ln>
        </p:spPr>
        <p:txBody>
          <a:bodyPr wrap="square" lIns="54864" tIns="45720" rIns="54864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dirty="0">
                <a:solidFill>
                  <a:srgbClr val="1F1F1F"/>
                </a:solidFill>
                <a:latin typeface="Times New Roman"/>
                <a:cs typeface="Times New Roman"/>
              </a:rPr>
              <a:t>Perform DFS and Tree DP</a:t>
            </a:r>
          </a:p>
        </p:txBody>
      </p:sp>
      <p:sp>
        <p:nvSpPr>
          <p:cNvPr id="107" name="Node 7"/>
          <p:cNvSpPr/>
          <p:nvPr/>
        </p:nvSpPr>
        <p:spPr>
          <a:xfrm>
            <a:off x="8350000" y="3750000"/>
            <a:ext cx="1600000" cy="11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C00000"/>
            </a:solidFill>
          </a:ln>
        </p:spPr>
        <p:txBody>
          <a:bodyPr wrap="square" lIns="54864" tIns="45720" rIns="54864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dirty="0">
                <a:solidFill>
                  <a:srgbClr val="1F1F1F"/>
                </a:solidFill>
                <a:latin typeface="Times New Roman"/>
                <a:cs typeface="Times New Roman"/>
              </a:rPr>
              <a:t>Calculate Diameter</a:t>
            </a:r>
          </a:p>
        </p:txBody>
      </p:sp>
      <p:sp>
        <p:nvSpPr>
          <p:cNvPr id="108" name="Node 8"/>
          <p:cNvSpPr/>
          <p:nvPr/>
        </p:nvSpPr>
        <p:spPr>
          <a:xfrm>
            <a:off x="6550000" y="3750000"/>
            <a:ext cx="1600000" cy="11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C00000"/>
            </a:solidFill>
          </a:ln>
        </p:spPr>
        <p:txBody>
          <a:bodyPr wrap="square" lIns="54864" tIns="45720" rIns="54864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dirty="0">
                <a:solidFill>
                  <a:srgbClr val="1F1F1F"/>
                </a:solidFill>
                <a:latin typeface="Times New Roman"/>
                <a:cs typeface="Times New Roman"/>
              </a:rPr>
              <a:t>Reconstruct Diameter Path</a:t>
            </a:r>
          </a:p>
        </p:txBody>
      </p:sp>
      <p:sp>
        <p:nvSpPr>
          <p:cNvPr id="109" name="Node 9"/>
          <p:cNvSpPr/>
          <p:nvPr/>
        </p:nvSpPr>
        <p:spPr>
          <a:xfrm>
            <a:off x="4750000" y="3750000"/>
            <a:ext cx="1600000" cy="11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C00000"/>
            </a:solidFill>
          </a:ln>
        </p:spPr>
        <p:txBody>
          <a:bodyPr wrap="square" lIns="54864" tIns="45720" rIns="54864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dirty="0">
                <a:solidFill>
                  <a:srgbClr val="1F1F1F"/>
                </a:solidFill>
                <a:latin typeface="Times New Roman"/>
                <a:cs typeface="Times New Roman"/>
              </a:rPr>
              <a:t>Display Result and Highlight Path</a:t>
            </a:r>
          </a:p>
        </p:txBody>
      </p:sp>
      <p:sp>
        <p:nvSpPr>
          <p:cNvPr id="110" name="Node 10"/>
          <p:cNvSpPr/>
          <p:nvPr/>
        </p:nvSpPr>
        <p:spPr>
          <a:xfrm>
            <a:off x="2950000" y="3750000"/>
            <a:ext cx="1600000" cy="11500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 w="25400">
            <a:solidFill>
              <a:srgbClr val="C00000"/>
            </a:solidFill>
          </a:ln>
        </p:spPr>
        <p:txBody>
          <a:bodyPr wrap="square" lIns="54864" tIns="45720" rIns="54864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FFFFFF"/>
                </a:solidFill>
                <a:latin typeface="Times New Roman"/>
                <a:cs typeface="Times New Roman"/>
              </a:rPr>
              <a:t>End</a:t>
            </a:r>
          </a:p>
        </p:txBody>
      </p:sp>
      <p:cxnSp>
        <p:nvCxnSpPr>
          <p:cNvPr id="111" name="Arrow 1"/>
          <p:cNvCxnSpPr/>
          <p:nvPr/>
        </p:nvCxnSpPr>
        <p:spPr>
          <a:xfrm>
            <a:off x="4570000" y="2125000"/>
            <a:ext cx="160000" cy="0"/>
          </a:xfrm>
          <a:prstGeom prst="straightConnector1">
            <a:avLst/>
          </a:prstGeom>
          <a:ln w="25400">
            <a:solidFill>
              <a:srgbClr val="1F1F1F"/>
            </a:solidFill>
            <a:tailEnd type="triangle" w="med" len="med"/>
          </a:ln>
        </p:spPr>
      </p:cxnSp>
      <p:cxnSp>
        <p:nvCxnSpPr>
          <p:cNvPr id="112" name="Arrow 2"/>
          <p:cNvCxnSpPr/>
          <p:nvPr/>
        </p:nvCxnSpPr>
        <p:spPr>
          <a:xfrm>
            <a:off x="6370000" y="2125000"/>
            <a:ext cx="160000" cy="0"/>
          </a:xfrm>
          <a:prstGeom prst="straightConnector1">
            <a:avLst/>
          </a:prstGeom>
          <a:ln w="25400">
            <a:solidFill>
              <a:srgbClr val="1F1F1F"/>
            </a:solidFill>
            <a:tailEnd type="triangle" w="med" len="med"/>
          </a:ln>
        </p:spPr>
      </p:cxnSp>
      <p:cxnSp>
        <p:nvCxnSpPr>
          <p:cNvPr id="113" name="Arrow 3"/>
          <p:cNvCxnSpPr/>
          <p:nvPr/>
        </p:nvCxnSpPr>
        <p:spPr>
          <a:xfrm>
            <a:off x="8170000" y="2125000"/>
            <a:ext cx="160000" cy="0"/>
          </a:xfrm>
          <a:prstGeom prst="straightConnector1">
            <a:avLst/>
          </a:prstGeom>
          <a:ln w="25400">
            <a:solidFill>
              <a:srgbClr val="1F1F1F"/>
            </a:solidFill>
            <a:tailEnd type="triangle" w="med" len="med"/>
          </a:ln>
        </p:spPr>
      </p:cxnSp>
      <p:cxnSp>
        <p:nvCxnSpPr>
          <p:cNvPr id="114" name="Arrow 4"/>
          <p:cNvCxnSpPr/>
          <p:nvPr/>
        </p:nvCxnSpPr>
        <p:spPr>
          <a:xfrm>
            <a:off x="9970000" y="2125000"/>
            <a:ext cx="160000" cy="0"/>
          </a:xfrm>
          <a:prstGeom prst="straightConnector1">
            <a:avLst/>
          </a:prstGeom>
          <a:ln w="25400">
            <a:solidFill>
              <a:srgbClr val="1F1F1F"/>
            </a:solidFill>
            <a:tailEnd type="triangle" w="med" len="med"/>
          </a:ln>
        </p:spPr>
      </p:cxnSp>
      <p:cxnSp>
        <p:nvCxnSpPr>
          <p:cNvPr id="115" name="Arrow 5"/>
          <p:cNvCxnSpPr/>
          <p:nvPr/>
        </p:nvCxnSpPr>
        <p:spPr>
          <a:xfrm>
            <a:off x="10950000" y="2720000"/>
            <a:ext cx="0" cy="1010000"/>
          </a:xfrm>
          <a:prstGeom prst="straightConnector1">
            <a:avLst/>
          </a:prstGeom>
          <a:ln w="25400">
            <a:solidFill>
              <a:srgbClr val="1F1F1F"/>
            </a:solidFill>
            <a:tailEnd type="triangle" w="med" len="med"/>
          </a:ln>
        </p:spPr>
      </p:cxnSp>
      <p:cxnSp>
        <p:nvCxnSpPr>
          <p:cNvPr id="116" name="Arrow 6"/>
          <p:cNvCxnSpPr/>
          <p:nvPr/>
        </p:nvCxnSpPr>
        <p:spPr>
          <a:xfrm flipH="1">
            <a:off x="9970000" y="4325000"/>
            <a:ext cx="160000" cy="0"/>
          </a:xfrm>
          <a:prstGeom prst="straightConnector1">
            <a:avLst/>
          </a:prstGeom>
          <a:ln w="25400">
            <a:solidFill>
              <a:srgbClr val="1F1F1F"/>
            </a:solidFill>
            <a:tailEnd type="triangle" w="med" len="med"/>
          </a:ln>
        </p:spPr>
      </p:cxnSp>
      <p:cxnSp>
        <p:nvCxnSpPr>
          <p:cNvPr id="117" name="Arrow 7"/>
          <p:cNvCxnSpPr/>
          <p:nvPr/>
        </p:nvCxnSpPr>
        <p:spPr>
          <a:xfrm flipH="1">
            <a:off x="8170000" y="4325000"/>
            <a:ext cx="160000" cy="0"/>
          </a:xfrm>
          <a:prstGeom prst="straightConnector1">
            <a:avLst/>
          </a:prstGeom>
          <a:ln w="25400">
            <a:solidFill>
              <a:srgbClr val="1F1F1F"/>
            </a:solidFill>
            <a:tailEnd type="triangle" w="med" len="med"/>
          </a:ln>
        </p:spPr>
      </p:cxnSp>
      <p:cxnSp>
        <p:nvCxnSpPr>
          <p:cNvPr id="118" name="Arrow 8"/>
          <p:cNvCxnSpPr/>
          <p:nvPr/>
        </p:nvCxnSpPr>
        <p:spPr>
          <a:xfrm flipH="1">
            <a:off x="6370000" y="4325000"/>
            <a:ext cx="160000" cy="0"/>
          </a:xfrm>
          <a:prstGeom prst="straightConnector1">
            <a:avLst/>
          </a:prstGeom>
          <a:ln w="25400">
            <a:solidFill>
              <a:srgbClr val="1F1F1F"/>
            </a:solidFill>
            <a:tailEnd type="triangle" w="med" len="med"/>
          </a:ln>
        </p:spPr>
      </p:cxnSp>
      <p:cxnSp>
        <p:nvCxnSpPr>
          <p:cNvPr id="119" name="Arrow 9"/>
          <p:cNvCxnSpPr/>
          <p:nvPr/>
        </p:nvCxnSpPr>
        <p:spPr>
          <a:xfrm flipH="1">
            <a:off x="4570000" y="4325000"/>
            <a:ext cx="160000" cy="0"/>
          </a:xfrm>
          <a:prstGeom prst="straightConnector1">
            <a:avLst/>
          </a:prstGeom>
          <a:ln w="25400">
            <a:solidFill>
              <a:srgbClr val="1F1F1F"/>
            </a:solidFill>
            <a:tailEnd type="triangle" w="med" len="med"/>
          </a:ln>
        </p:spPr>
      </p:cxnSp>
      <p:sp>
        <p:nvSpPr>
          <p:cNvPr id="120" name="Flowchart note"/>
          <p:cNvSpPr txBox="1"/>
          <p:nvPr/>
        </p:nvSpPr>
        <p:spPr>
          <a:xfrm>
            <a:off x="2950000" y="5400000"/>
            <a:ext cx="88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1" dirty="0">
                <a:solidFill>
                  <a:srgbClr val="595959"/>
                </a:solidFill>
                <a:latin typeface="Times New Roman"/>
                <a:cs typeface="Times New Roman"/>
              </a:rPr>
              <a:t>If the input is not a valid tree, an error message is shown.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736109" y="187903"/>
            <a:ext cx="47197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01" name="Input body"/>
          <p:cNvSpPr/>
          <p:nvPr/>
        </p:nvSpPr>
        <p:spPr>
          <a:xfrm>
            <a:off x="2950000" y="1100000"/>
            <a:ext cx="2000000" cy="2800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02" name="Input header"/>
          <p:cNvSpPr/>
          <p:nvPr/>
        </p:nvSpPr>
        <p:spPr>
          <a:xfrm>
            <a:off x="2950000" y="1100000"/>
            <a:ext cx="2000000" cy="460000"/>
          </a:xfrm>
          <a:prstGeom prst="round2SameRect">
            <a:avLst>
              <a:gd name="adj1" fmla="val 23913"/>
              <a:gd name="adj2" fmla="val 0"/>
            </a:avLst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Times New Roman"/>
                <a:cs typeface="Times New Roman"/>
              </a:rPr>
              <a:t>INPUT</a:t>
            </a:r>
          </a:p>
        </p:txBody>
      </p:sp>
      <p:sp>
        <p:nvSpPr>
          <p:cNvPr id="103" name="Input text"/>
          <p:cNvSpPr txBox="1"/>
          <p:nvPr/>
        </p:nvSpPr>
        <p:spPr>
          <a:xfrm>
            <a:off x="3030000" y="1640000"/>
            <a:ext cx="1840000" cy="22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800" b="1" i="0" dirty="0">
                <a:solidFill>
                  <a:srgbClr val="1F1F1F"/>
                </a:solidFill>
                <a:latin typeface="Times New Roman"/>
                <a:cs typeface="Times New Roman"/>
              </a:rPr>
              <a:t>Nodes:</a:t>
            </a:r>
            <a:r>
              <a:rPr lang="en-US" sz="1800" b="0" i="0" dirty="0">
                <a:solidFill>
                  <a:srgbClr val="1F1F1F"/>
                </a:solidFill>
                <a:latin typeface="Times New Roman"/>
                <a:cs typeface="Times New Roman"/>
              </a:rPr>
              <a:t> 10</a:t>
            </a:r>
          </a:p>
          <a:p>
            <a:pPr marL="0" indent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i="0" dirty="0">
                <a:solidFill>
                  <a:srgbClr val="1F1F1F"/>
                </a:solidFill>
                <a:latin typeface="Times New Roman"/>
                <a:cs typeface="Times New Roman"/>
              </a:rPr>
              <a:t>Edges:</a:t>
            </a:r>
            <a:r>
              <a:rPr lang="en-US" sz="1800" b="0" i="0" dirty="0">
                <a:solidFill>
                  <a:srgbClr val="1F1F1F"/>
                </a:solidFill>
                <a:latin typeface="Times New Roman"/>
                <a:cs typeface="Times New Roman"/>
              </a:rPr>
              <a:t> 9</a:t>
            </a:r>
          </a:p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800" b="0" i="0" dirty="0">
                <a:solidFill>
                  <a:srgbClr val="1F1F1F"/>
                </a:solidFill>
                <a:latin typeface="Times New Roman"/>
                <a:cs typeface="Times New Roman"/>
              </a:rPr>
              <a:t>1–2, 1–3, 2–4,</a:t>
            </a:r>
          </a:p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800" b="0" i="0" dirty="0">
                <a:solidFill>
                  <a:srgbClr val="1F1F1F"/>
                </a:solidFill>
                <a:latin typeface="Times New Roman"/>
                <a:cs typeface="Times New Roman"/>
              </a:rPr>
              <a:t>2–5, 3–6, 3–7,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1F1F1F"/>
                </a:solidFill>
                <a:latin typeface="Times New Roman"/>
                <a:cs typeface="Times New Roman"/>
              </a:rPr>
              <a:t>6–8, 6–9, 7–10</a:t>
            </a:r>
          </a:p>
        </p:txBody>
      </p:sp>
      <p:sp>
        <p:nvSpPr>
          <p:cNvPr id="104" name="Process body"/>
          <p:cNvSpPr/>
          <p:nvPr/>
        </p:nvSpPr>
        <p:spPr>
          <a:xfrm>
            <a:off x="5100000" y="1100000"/>
            <a:ext cx="3700000" cy="2800000"/>
          </a:xfrm>
          <a:prstGeom prst="roundRect">
            <a:avLst>
              <a:gd name="adj" fmla="val 3928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05" name="Process header"/>
          <p:cNvSpPr/>
          <p:nvPr/>
        </p:nvSpPr>
        <p:spPr>
          <a:xfrm>
            <a:off x="5100000" y="1100000"/>
            <a:ext cx="3700000" cy="460000"/>
          </a:xfrm>
          <a:prstGeom prst="round2SameRect">
            <a:avLst>
              <a:gd name="adj1" fmla="val 23913"/>
              <a:gd name="adj2" fmla="val 0"/>
            </a:avLst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Times New Roman"/>
                <a:cs typeface="Times New Roman"/>
              </a:rPr>
              <a:t>PROCESS</a:t>
            </a:r>
          </a:p>
        </p:txBody>
      </p:sp>
      <p:sp>
        <p:nvSpPr>
          <p:cNvPr id="106" name="Process text"/>
          <p:cNvSpPr txBox="1"/>
          <p:nvPr/>
        </p:nvSpPr>
        <p:spPr>
          <a:xfrm>
            <a:off x="5180000" y="1640000"/>
            <a:ext cx="3540000" cy="22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 algn="l"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1F1F"/>
                </a:solidFill>
                <a:latin typeface="Times New Roman"/>
                <a:cs typeface="Times New Roman"/>
              </a:rPr>
              <a:t>Construct the adjacency list.</a:t>
            </a:r>
          </a:p>
          <a:p>
            <a:pPr marL="342900" indent="-342900" algn="l"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1F1F"/>
                </a:solidFill>
                <a:latin typeface="Times New Roman"/>
                <a:cs typeface="Times New Roman"/>
              </a:rPr>
              <a:t>Calculate subtree heights using DFS.</a:t>
            </a:r>
          </a:p>
          <a:p>
            <a:pPr marL="342900" indent="-342900" algn="l"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1F1F"/>
                </a:solidFill>
                <a:latin typeface="Times New Roman"/>
                <a:cs typeface="Times New Roman"/>
              </a:rPr>
              <a:t>Apply Tree Dynamic Programming.</a:t>
            </a:r>
          </a:p>
          <a:p>
            <a:pPr marL="342900" indent="-342900" algn="l"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1F1F"/>
                </a:solidFill>
                <a:latin typeface="Times New Roman"/>
                <a:cs typeface="Times New Roman"/>
              </a:rPr>
              <a:t>Identify the diameter endpoints.</a:t>
            </a:r>
          </a:p>
          <a:p>
            <a:pPr marL="342900" indent="-342900" algn="l"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1F1F"/>
                </a:solidFill>
                <a:latin typeface="Times New Roman"/>
                <a:cs typeface="Times New Roman"/>
              </a:rPr>
              <a:t>Reconstruct the longest path.</a:t>
            </a:r>
          </a:p>
        </p:txBody>
      </p:sp>
      <p:sp>
        <p:nvSpPr>
          <p:cNvPr id="107" name="Output body"/>
          <p:cNvSpPr/>
          <p:nvPr/>
        </p:nvSpPr>
        <p:spPr>
          <a:xfrm>
            <a:off x="8950000" y="1100000"/>
            <a:ext cx="2800000" cy="2800000"/>
          </a:xfrm>
          <a:prstGeom prst="roundRect">
            <a:avLst>
              <a:gd name="adj" fmla="val 3928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08" name="Output header"/>
          <p:cNvSpPr/>
          <p:nvPr/>
        </p:nvSpPr>
        <p:spPr>
          <a:xfrm>
            <a:off x="8950000" y="1100000"/>
            <a:ext cx="2800000" cy="460000"/>
          </a:xfrm>
          <a:prstGeom prst="round2SameRect">
            <a:avLst>
              <a:gd name="adj1" fmla="val 23913"/>
              <a:gd name="adj2" fmla="val 0"/>
            </a:avLst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Times New Roman"/>
                <a:cs typeface="Times New Roman"/>
              </a:rPr>
              <a:t>OUTPUT</a:t>
            </a:r>
          </a:p>
        </p:txBody>
      </p:sp>
      <p:sp>
        <p:nvSpPr>
          <p:cNvPr id="109" name="Output text"/>
          <p:cNvSpPr txBox="1"/>
          <p:nvPr/>
        </p:nvSpPr>
        <p:spPr>
          <a:xfrm>
            <a:off x="9030000" y="1640000"/>
            <a:ext cx="2640000" cy="22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b="1" i="0" dirty="0">
                <a:solidFill>
                  <a:srgbClr val="1F1F1F"/>
                </a:solidFill>
                <a:latin typeface="Times New Roman"/>
                <a:cs typeface="Times New Roman"/>
              </a:rPr>
              <a:t>Tree Diameter = 5 edges</a:t>
            </a:r>
          </a:p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700" b="0" i="0" dirty="0">
                <a:solidFill>
                  <a:srgbClr val="595959"/>
                </a:solidFill>
                <a:latin typeface="Times New Roman"/>
                <a:cs typeface="Times New Roman"/>
              </a:rPr>
              <a:t>Diameter Path:</a:t>
            </a:r>
          </a:p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700" b="1" i="0" dirty="0">
                <a:solidFill>
                  <a:srgbClr val="C00000"/>
                </a:solidFill>
                <a:latin typeface="Times New Roman"/>
                <a:cs typeface="Times New Roman"/>
              </a:rPr>
              <a:t>8 → 6 → 3 → 1 → 2 → 4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dirty="0">
                <a:solidFill>
                  <a:srgbClr val="595959"/>
                </a:solidFill>
                <a:latin typeface="Times New Roman"/>
                <a:cs typeface="Times New Roman"/>
              </a:rPr>
              <a:t>(6 nodes, 5 edges)</a:t>
            </a:r>
          </a:p>
        </p:txBody>
      </p:sp>
      <p:sp>
        <p:nvSpPr>
          <p:cNvPr id="110" name="Diagram card"/>
          <p:cNvSpPr/>
          <p:nvPr/>
        </p:nvSpPr>
        <p:spPr>
          <a:xfrm>
            <a:off x="2950000" y="4100000"/>
            <a:ext cx="8800000" cy="23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cxnSp>
        <p:nvCxnSpPr>
          <p:cNvPr id="111" name="Edge 1-2"/>
          <p:cNvCxnSpPr/>
          <p:nvPr/>
        </p:nvCxnSpPr>
        <p:spPr>
          <a:xfrm flipH="1">
            <a:off x="3875000" y="4450000"/>
            <a:ext cx="1306250" cy="500000"/>
          </a:xfrm>
          <a:prstGeom prst="straightConnector1">
            <a:avLst/>
          </a:prstGeom>
          <a:ln w="38100">
            <a:solidFill>
              <a:srgbClr val="C00000"/>
            </a:solidFill>
          </a:ln>
        </p:spPr>
      </p:cxnSp>
      <p:cxnSp>
        <p:nvCxnSpPr>
          <p:cNvPr id="112" name="Edge 1-3"/>
          <p:cNvCxnSpPr/>
          <p:nvPr/>
        </p:nvCxnSpPr>
        <p:spPr>
          <a:xfrm>
            <a:off x="5181250" y="4450000"/>
            <a:ext cx="1306250" cy="500000"/>
          </a:xfrm>
          <a:prstGeom prst="straightConnector1">
            <a:avLst/>
          </a:prstGeom>
          <a:ln w="38100">
            <a:solidFill>
              <a:srgbClr val="C00000"/>
            </a:solidFill>
          </a:ln>
        </p:spPr>
      </p:cxnSp>
      <p:cxnSp>
        <p:nvCxnSpPr>
          <p:cNvPr id="113" name="Edge 2-4"/>
          <p:cNvCxnSpPr/>
          <p:nvPr/>
        </p:nvCxnSpPr>
        <p:spPr>
          <a:xfrm flipH="1">
            <a:off x="3400000" y="4950000"/>
            <a:ext cx="475000" cy="500000"/>
          </a:xfrm>
          <a:prstGeom prst="straightConnector1">
            <a:avLst/>
          </a:prstGeom>
          <a:ln w="38100">
            <a:solidFill>
              <a:srgbClr val="C00000"/>
            </a:solidFill>
          </a:ln>
        </p:spPr>
      </p:cxnSp>
      <p:cxnSp>
        <p:nvCxnSpPr>
          <p:cNvPr id="114" name="Edge 2-5"/>
          <p:cNvCxnSpPr/>
          <p:nvPr/>
        </p:nvCxnSpPr>
        <p:spPr>
          <a:xfrm>
            <a:off x="3875000" y="4950000"/>
            <a:ext cx="475000" cy="500000"/>
          </a:xfrm>
          <a:prstGeom prst="straightConnector1">
            <a:avLst/>
          </a:prstGeom>
          <a:ln w="19050">
            <a:solidFill>
              <a:srgbClr val="7F7F7F"/>
            </a:solidFill>
          </a:ln>
        </p:spPr>
      </p:cxnSp>
      <p:cxnSp>
        <p:nvCxnSpPr>
          <p:cNvPr id="115" name="Edge 3-6"/>
          <p:cNvCxnSpPr/>
          <p:nvPr/>
        </p:nvCxnSpPr>
        <p:spPr>
          <a:xfrm flipH="1">
            <a:off x="5775000" y="4950000"/>
            <a:ext cx="712500" cy="500000"/>
          </a:xfrm>
          <a:prstGeom prst="straightConnector1">
            <a:avLst/>
          </a:prstGeom>
          <a:ln w="38100">
            <a:solidFill>
              <a:srgbClr val="C00000"/>
            </a:solidFill>
          </a:ln>
        </p:spPr>
      </p:cxnSp>
      <p:cxnSp>
        <p:nvCxnSpPr>
          <p:cNvPr id="116" name="Edge 3-7"/>
          <p:cNvCxnSpPr/>
          <p:nvPr/>
        </p:nvCxnSpPr>
        <p:spPr>
          <a:xfrm>
            <a:off x="6487500" y="4950000"/>
            <a:ext cx="712500" cy="500000"/>
          </a:xfrm>
          <a:prstGeom prst="straightConnector1">
            <a:avLst/>
          </a:prstGeom>
          <a:ln w="19050">
            <a:solidFill>
              <a:srgbClr val="7F7F7F"/>
            </a:solidFill>
          </a:ln>
        </p:spPr>
      </p:cxnSp>
      <p:cxnSp>
        <p:nvCxnSpPr>
          <p:cNvPr id="117" name="Edge 6-8"/>
          <p:cNvCxnSpPr/>
          <p:nvPr/>
        </p:nvCxnSpPr>
        <p:spPr>
          <a:xfrm flipH="1">
            <a:off x="5300000" y="5450000"/>
            <a:ext cx="475000" cy="500000"/>
          </a:xfrm>
          <a:prstGeom prst="straightConnector1">
            <a:avLst/>
          </a:prstGeom>
          <a:ln w="38100">
            <a:solidFill>
              <a:srgbClr val="C00000"/>
            </a:solidFill>
          </a:ln>
        </p:spPr>
      </p:cxnSp>
      <p:cxnSp>
        <p:nvCxnSpPr>
          <p:cNvPr id="118" name="Edge 6-9"/>
          <p:cNvCxnSpPr/>
          <p:nvPr/>
        </p:nvCxnSpPr>
        <p:spPr>
          <a:xfrm>
            <a:off x="5775000" y="5450000"/>
            <a:ext cx="475000" cy="500000"/>
          </a:xfrm>
          <a:prstGeom prst="straightConnector1">
            <a:avLst/>
          </a:prstGeom>
          <a:ln w="19050">
            <a:solidFill>
              <a:srgbClr val="7F7F7F"/>
            </a:solidFill>
          </a:ln>
        </p:spPr>
      </p:cxnSp>
      <p:cxnSp>
        <p:nvCxnSpPr>
          <p:cNvPr id="119" name="Edge 7-10"/>
          <p:cNvCxnSpPr/>
          <p:nvPr/>
        </p:nvCxnSpPr>
        <p:spPr>
          <a:xfrm>
            <a:off x="7200000" y="5450000"/>
            <a:ext cx="0" cy="500000"/>
          </a:xfrm>
          <a:prstGeom prst="straightConnector1">
            <a:avLst/>
          </a:prstGeom>
          <a:ln w="19050">
            <a:solidFill>
              <a:srgbClr val="7F7F7F"/>
            </a:solidFill>
          </a:ln>
        </p:spPr>
      </p:cxnSp>
      <p:sp>
        <p:nvSpPr>
          <p:cNvPr id="120" name="Node 1"/>
          <p:cNvSpPr/>
          <p:nvPr/>
        </p:nvSpPr>
        <p:spPr>
          <a:xfrm>
            <a:off x="5006250" y="4275000"/>
            <a:ext cx="350000" cy="35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1F1F1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121" name="Node 2"/>
          <p:cNvSpPr/>
          <p:nvPr/>
        </p:nvSpPr>
        <p:spPr>
          <a:xfrm>
            <a:off x="3700000" y="4775000"/>
            <a:ext cx="350000" cy="35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1F1F1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122" name="Node 3"/>
          <p:cNvSpPr/>
          <p:nvPr/>
        </p:nvSpPr>
        <p:spPr>
          <a:xfrm>
            <a:off x="6312500" y="4775000"/>
            <a:ext cx="350000" cy="35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1F1F1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123" name="Node 4"/>
          <p:cNvSpPr/>
          <p:nvPr/>
        </p:nvSpPr>
        <p:spPr>
          <a:xfrm>
            <a:off x="3225000" y="5275000"/>
            <a:ext cx="350000" cy="35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1F1F1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124" name="Node 5"/>
          <p:cNvSpPr/>
          <p:nvPr/>
        </p:nvSpPr>
        <p:spPr>
          <a:xfrm>
            <a:off x="4175000" y="5275000"/>
            <a:ext cx="350000" cy="350000"/>
          </a:xfrm>
          <a:prstGeom prst="ellipse">
            <a:avLst/>
          </a:prstGeom>
          <a:solidFill>
            <a:srgbClr val="4682B4"/>
          </a:solidFill>
          <a:ln w="12700">
            <a:solidFill>
              <a:srgbClr val="1F1F1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</a:p>
        </p:txBody>
      </p:sp>
      <p:sp>
        <p:nvSpPr>
          <p:cNvPr id="125" name="Node 6"/>
          <p:cNvSpPr/>
          <p:nvPr/>
        </p:nvSpPr>
        <p:spPr>
          <a:xfrm>
            <a:off x="5600000" y="5275000"/>
            <a:ext cx="350000" cy="35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1F1F1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126" name="Node 7"/>
          <p:cNvSpPr/>
          <p:nvPr/>
        </p:nvSpPr>
        <p:spPr>
          <a:xfrm>
            <a:off x="7025000" y="5275000"/>
            <a:ext cx="350000" cy="350000"/>
          </a:xfrm>
          <a:prstGeom prst="ellipse">
            <a:avLst/>
          </a:prstGeom>
          <a:solidFill>
            <a:srgbClr val="4682B4"/>
          </a:solidFill>
          <a:ln w="12700">
            <a:solidFill>
              <a:srgbClr val="1F1F1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</a:p>
        </p:txBody>
      </p:sp>
      <p:sp>
        <p:nvSpPr>
          <p:cNvPr id="127" name="Node 8"/>
          <p:cNvSpPr/>
          <p:nvPr/>
        </p:nvSpPr>
        <p:spPr>
          <a:xfrm>
            <a:off x="5125000" y="5775000"/>
            <a:ext cx="350000" cy="35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1F1F1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</a:p>
        </p:txBody>
      </p:sp>
      <p:sp>
        <p:nvSpPr>
          <p:cNvPr id="128" name="Node 9"/>
          <p:cNvSpPr/>
          <p:nvPr/>
        </p:nvSpPr>
        <p:spPr>
          <a:xfrm>
            <a:off x="6075000" y="5775000"/>
            <a:ext cx="350000" cy="350000"/>
          </a:xfrm>
          <a:prstGeom prst="ellipse">
            <a:avLst/>
          </a:prstGeom>
          <a:solidFill>
            <a:srgbClr val="4682B4"/>
          </a:solidFill>
          <a:ln w="12700">
            <a:solidFill>
              <a:srgbClr val="1F1F1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Times New Roman"/>
                <a:cs typeface="Times New Roman"/>
              </a:rPr>
              <a:t>9</a:t>
            </a:r>
          </a:p>
        </p:txBody>
      </p:sp>
      <p:sp>
        <p:nvSpPr>
          <p:cNvPr id="129" name="Node 10"/>
          <p:cNvSpPr/>
          <p:nvPr/>
        </p:nvSpPr>
        <p:spPr>
          <a:xfrm>
            <a:off x="7025000" y="5775000"/>
            <a:ext cx="350000" cy="350000"/>
          </a:xfrm>
          <a:prstGeom prst="ellipse">
            <a:avLst/>
          </a:prstGeom>
          <a:solidFill>
            <a:srgbClr val="4682B4"/>
          </a:solidFill>
          <a:ln w="12700">
            <a:solidFill>
              <a:srgbClr val="1F1F1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</a:p>
        </p:txBody>
      </p:sp>
      <p:sp>
        <p:nvSpPr>
          <p:cNvPr id="130" name="Diagram title"/>
          <p:cNvSpPr txBox="1"/>
          <p:nvPr/>
        </p:nvSpPr>
        <p:spPr>
          <a:xfrm>
            <a:off x="8200000" y="4250000"/>
            <a:ext cx="343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C00000"/>
                </a:solidFill>
                <a:latin typeface="Times New Roman"/>
                <a:cs typeface="Times New Roman"/>
              </a:rPr>
              <a:t>Sample Tree</a:t>
            </a:r>
          </a:p>
        </p:txBody>
      </p:sp>
      <p:sp>
        <p:nvSpPr>
          <p:cNvPr id="131" name="Legend red"/>
          <p:cNvSpPr/>
          <p:nvPr/>
        </p:nvSpPr>
        <p:spPr>
          <a:xfrm>
            <a:off x="8291440" y="4855000"/>
            <a:ext cx="230000" cy="2300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1F1F1F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32" name="Legend red text"/>
          <p:cNvSpPr txBox="1"/>
          <p:nvPr/>
        </p:nvSpPr>
        <p:spPr>
          <a:xfrm>
            <a:off x="8620000" y="4800000"/>
            <a:ext cx="301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1F1F1F"/>
                </a:solidFill>
                <a:latin typeface="Times New Roman"/>
                <a:cs typeface="Times New Roman"/>
              </a:rPr>
              <a:t>Nodes on the diameter path</a:t>
            </a:r>
          </a:p>
        </p:txBody>
      </p:sp>
      <p:sp>
        <p:nvSpPr>
          <p:cNvPr id="133" name="Legend blue"/>
          <p:cNvSpPr/>
          <p:nvPr/>
        </p:nvSpPr>
        <p:spPr>
          <a:xfrm>
            <a:off x="8291440" y="5275000"/>
            <a:ext cx="230000" cy="230000"/>
          </a:xfrm>
          <a:prstGeom prst="ellipse">
            <a:avLst/>
          </a:prstGeom>
          <a:solidFill>
            <a:srgbClr val="4682B4"/>
          </a:solidFill>
          <a:ln w="12700">
            <a:solidFill>
              <a:srgbClr val="1F1F1F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34" name="Legend blue text"/>
          <p:cNvSpPr txBox="1"/>
          <p:nvPr/>
        </p:nvSpPr>
        <p:spPr>
          <a:xfrm>
            <a:off x="8620000" y="5220000"/>
            <a:ext cx="301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1F1F1F"/>
                </a:solidFill>
                <a:latin typeface="Times New Roman"/>
                <a:cs typeface="Times New Roman"/>
              </a:rPr>
              <a:t>Other nodes</a:t>
            </a:r>
          </a:p>
        </p:txBody>
      </p:sp>
      <p:sp>
        <p:nvSpPr>
          <p:cNvPr id="135" name="Diagram note"/>
          <p:cNvSpPr txBox="1"/>
          <p:nvPr/>
        </p:nvSpPr>
        <p:spPr>
          <a:xfrm>
            <a:off x="8200000" y="5700000"/>
            <a:ext cx="343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dirty="0">
                <a:solidFill>
                  <a:srgbClr val="595959"/>
                </a:solidFill>
                <a:latin typeface="Times New Roman"/>
                <a:cs typeface="Times New Roman"/>
              </a:rPr>
              <a:t>Diagram drawn from the sample input above.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736109" y="187903"/>
            <a:ext cx="47197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101" name="Conclusion points"/>
          <p:cNvSpPr txBox="1"/>
          <p:nvPr/>
        </p:nvSpPr>
        <p:spPr>
          <a:xfrm>
            <a:off x="2950000" y="1150000"/>
            <a:ext cx="8800000" cy="32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 algn="l">
              <a:spcBef>
                <a:spcPts val="0"/>
              </a:spcBef>
              <a:spcAft>
                <a:spcPts val="18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2400" b="0" i="0" dirty="0">
                <a:solidFill>
                  <a:srgbClr val="1F1F1F"/>
                </a:solidFill>
                <a:latin typeface="Times New Roman"/>
                <a:cs typeface="Times New Roman"/>
              </a:rPr>
              <a:t>The system calculates the </a:t>
            </a:r>
            <a:r>
              <a:rPr lang="en-US" sz="2400" b="1" i="0" dirty="0">
                <a:solidFill>
                  <a:srgbClr val="1F1F1F"/>
                </a:solidFill>
                <a:latin typeface="Times New Roman"/>
                <a:cs typeface="Times New Roman"/>
              </a:rPr>
              <a:t>longest path</a:t>
            </a:r>
            <a:r>
              <a:rPr lang="en-US" sz="2400" b="0" i="0" dirty="0">
                <a:solidFill>
                  <a:srgbClr val="1F1F1F"/>
                </a:solidFill>
                <a:latin typeface="Times New Roman"/>
                <a:cs typeface="Times New Roman"/>
              </a:rPr>
              <a:t> (diameter) of a tree.</a:t>
            </a:r>
          </a:p>
          <a:p>
            <a:pPr marL="342900" indent="-342900" algn="l">
              <a:spcBef>
                <a:spcPts val="0"/>
              </a:spcBef>
              <a:spcAft>
                <a:spcPts val="18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2400" b="1" i="0" dirty="0">
                <a:solidFill>
                  <a:srgbClr val="1F1F1F"/>
                </a:solidFill>
                <a:latin typeface="Times New Roman"/>
                <a:cs typeface="Times New Roman"/>
              </a:rPr>
              <a:t>DFS</a:t>
            </a:r>
            <a:r>
              <a:rPr lang="en-US" sz="2400" b="0" i="0" dirty="0">
                <a:solidFill>
                  <a:srgbClr val="1F1F1F"/>
                </a:solidFill>
                <a:latin typeface="Times New Roman"/>
                <a:cs typeface="Times New Roman"/>
              </a:rPr>
              <a:t> explores the tree structure.</a:t>
            </a:r>
          </a:p>
          <a:p>
            <a:pPr marL="342900" indent="-342900" algn="l">
              <a:spcBef>
                <a:spcPts val="0"/>
              </a:spcBef>
              <a:spcAft>
                <a:spcPts val="18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2400" b="1" i="0" dirty="0">
                <a:solidFill>
                  <a:srgbClr val="1F1F1F"/>
                </a:solidFill>
                <a:latin typeface="Times New Roman"/>
                <a:cs typeface="Times New Roman"/>
              </a:rPr>
              <a:t>Dynamic Programming</a:t>
            </a:r>
            <a:r>
              <a:rPr lang="en-US" sz="2400" b="0" i="0" dirty="0">
                <a:solidFill>
                  <a:srgbClr val="1F1F1F"/>
                </a:solidFill>
                <a:latin typeface="Times New Roman"/>
                <a:cs typeface="Times New Roman"/>
              </a:rPr>
              <a:t> helps calculate the diameter efficiently.</a:t>
            </a:r>
          </a:p>
          <a:p>
            <a:pPr marL="342900" indent="-342900" algn="l">
              <a:spcBef>
                <a:spcPts val="0"/>
              </a:spcBef>
              <a:spcAft>
                <a:spcPts val="18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2400" b="0" i="0" dirty="0">
                <a:solidFill>
                  <a:srgbClr val="1F1F1F"/>
                </a:solidFill>
                <a:latin typeface="Times New Roman"/>
                <a:cs typeface="Times New Roman"/>
              </a:rPr>
              <a:t>The diameter path is </a:t>
            </a:r>
            <a:r>
              <a:rPr lang="en-US" sz="2400" b="1" i="0" dirty="0">
                <a:solidFill>
                  <a:srgbClr val="1F1F1F"/>
                </a:solidFill>
                <a:latin typeface="Times New Roman"/>
                <a:cs typeface="Times New Roman"/>
              </a:rPr>
              <a:t>reconstructed and highlighted</a:t>
            </a:r>
            <a:r>
              <a:rPr lang="en-US" sz="2400" b="0" i="0" dirty="0">
                <a:solidFill>
                  <a:srgbClr val="1F1F1F"/>
                </a:solidFill>
                <a:latin typeface="Times New Roman"/>
                <a:cs typeface="Times New Roman"/>
              </a:rPr>
              <a:t> in the GUI.</a:t>
            </a:r>
          </a:p>
          <a:p>
            <a:pPr marL="342900" indent="-342900" algn="l">
              <a:spcBef>
                <a:spcPts val="0"/>
              </a:spcBef>
              <a:spcAft>
                <a:spcPts val="18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2400" b="1" i="0" dirty="0">
                <a:solidFill>
                  <a:srgbClr val="1F1F1F"/>
                </a:solidFill>
                <a:latin typeface="Times New Roman"/>
                <a:cs typeface="Times New Roman"/>
              </a:rPr>
              <a:t>Visualization</a:t>
            </a:r>
            <a:r>
              <a:rPr lang="en-US" sz="2400" b="0" i="0" dirty="0">
                <a:solidFill>
                  <a:srgbClr val="1F1F1F"/>
                </a:solidFill>
                <a:latin typeface="Times New Roman"/>
                <a:cs typeface="Times New Roman"/>
              </a:rPr>
              <a:t> makes the result easier to understand.</a:t>
            </a:r>
          </a:p>
        </p:txBody>
      </p:sp>
      <p:sp>
        <p:nvSpPr>
          <p:cNvPr id="102" name="Stat 1"/>
          <p:cNvSpPr/>
          <p:nvPr/>
        </p:nvSpPr>
        <p:spPr>
          <a:xfrm>
            <a:off x="2950000" y="4650000"/>
            <a:ext cx="4275000" cy="1350000"/>
          </a:xfrm>
          <a:prstGeom prst="roundRect">
            <a:avLst>
              <a:gd name="adj" fmla="val 10000"/>
            </a:avLst>
          </a:prstGeom>
          <a:solidFill>
            <a:srgbClr val="FBEDED"/>
          </a:solidFill>
          <a:ln w="19050">
            <a:solidFill>
              <a:srgbClr val="C000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800" b="0" i="0" dirty="0">
                <a:solidFill>
                  <a:srgbClr val="595959"/>
                </a:solidFill>
                <a:latin typeface="Times New Roman"/>
                <a:cs typeface="Times New Roman"/>
              </a:rPr>
              <a:t>Time Complexity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dirty="0">
                <a:solidFill>
                  <a:srgbClr val="C00000"/>
                </a:solidFill>
                <a:latin typeface="Times New Roman"/>
                <a:cs typeface="Times New Roman"/>
              </a:rPr>
              <a:t>O(N)</a:t>
            </a:r>
          </a:p>
        </p:txBody>
      </p:sp>
      <p:sp>
        <p:nvSpPr>
          <p:cNvPr id="103" name="Stat 2"/>
          <p:cNvSpPr/>
          <p:nvPr/>
        </p:nvSpPr>
        <p:spPr>
          <a:xfrm>
            <a:off x="7475000" y="4650000"/>
            <a:ext cx="4275000" cy="1350000"/>
          </a:xfrm>
          <a:prstGeom prst="roundRect">
            <a:avLst>
              <a:gd name="adj" fmla="val 10000"/>
            </a:avLst>
          </a:prstGeom>
          <a:solidFill>
            <a:srgbClr val="FBEDED"/>
          </a:solidFill>
          <a:ln w="19050">
            <a:solidFill>
              <a:srgbClr val="C00000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800" b="0" i="0" dirty="0">
                <a:solidFill>
                  <a:srgbClr val="595959"/>
                </a:solidFill>
                <a:latin typeface="Times New Roman"/>
                <a:cs typeface="Times New Roman"/>
              </a:rPr>
              <a:t>Auxiliary Space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dirty="0">
                <a:solidFill>
                  <a:srgbClr val="C00000"/>
                </a:solidFill>
                <a:latin typeface="Times New Roman"/>
                <a:cs typeface="Times New Roman"/>
              </a:rPr>
              <a:t>O(N)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DC868-E2EE-261E-9CB9-C3539D4BC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3C9FFEF-4CD0-96F8-C228-B99022D0B133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C1D9E1-EF1E-1500-80F1-13EF0B84E9AA}"/>
              </a:ext>
            </a:extLst>
          </p:cNvPr>
          <p:cNvSpPr txBox="1"/>
          <p:nvPr/>
        </p:nvSpPr>
        <p:spPr>
          <a:xfrm>
            <a:off x="3736109" y="187903"/>
            <a:ext cx="47197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</p:txBody>
      </p:sp>
      <p:sp>
        <p:nvSpPr>
          <p:cNvPr id="101" name="Card 1"/>
          <p:cNvSpPr/>
          <p:nvPr/>
        </p:nvSpPr>
        <p:spPr>
          <a:xfrm>
            <a:off x="2950000" y="1300000"/>
            <a:ext cx="4275000" cy="13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02" name="Marker 1"/>
          <p:cNvSpPr/>
          <p:nvPr/>
        </p:nvSpPr>
        <p:spPr>
          <a:xfrm>
            <a:off x="3180000" y="1830000"/>
            <a:ext cx="240000" cy="24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03" name="Card text 1"/>
          <p:cNvSpPr txBox="1"/>
          <p:nvPr/>
        </p:nvSpPr>
        <p:spPr>
          <a:xfrm>
            <a:off x="3590000" y="1300000"/>
            <a:ext cx="3515000" cy="1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1F1F1F"/>
                </a:solidFill>
                <a:latin typeface="Times New Roman"/>
                <a:cs typeface="Times New Roman"/>
              </a:rPr>
              <a:t>Interactive tree creation</a:t>
            </a:r>
          </a:p>
        </p:txBody>
      </p:sp>
      <p:sp>
        <p:nvSpPr>
          <p:cNvPr id="104" name="Card 2"/>
          <p:cNvSpPr/>
          <p:nvPr/>
        </p:nvSpPr>
        <p:spPr>
          <a:xfrm>
            <a:off x="7475000" y="1300000"/>
            <a:ext cx="4275000" cy="13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05" name="Marker 2"/>
          <p:cNvSpPr/>
          <p:nvPr/>
        </p:nvSpPr>
        <p:spPr>
          <a:xfrm>
            <a:off x="7705000" y="1830000"/>
            <a:ext cx="240000" cy="24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06" name="Card text 2"/>
          <p:cNvSpPr txBox="1"/>
          <p:nvPr/>
        </p:nvSpPr>
        <p:spPr>
          <a:xfrm>
            <a:off x="8115000" y="1300000"/>
            <a:ext cx="3515000" cy="1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1F1F1F"/>
                </a:solidFill>
                <a:latin typeface="Times New Roman"/>
                <a:cs typeface="Times New Roman"/>
              </a:rPr>
              <a:t>Step-by-step algorithm animation</a:t>
            </a:r>
          </a:p>
        </p:txBody>
      </p:sp>
      <p:sp>
        <p:nvSpPr>
          <p:cNvPr id="107" name="Card 3"/>
          <p:cNvSpPr/>
          <p:nvPr/>
        </p:nvSpPr>
        <p:spPr>
          <a:xfrm>
            <a:off x="2950000" y="2850000"/>
            <a:ext cx="4275000" cy="13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08" name="Marker 3"/>
          <p:cNvSpPr/>
          <p:nvPr/>
        </p:nvSpPr>
        <p:spPr>
          <a:xfrm>
            <a:off x="3180000" y="3380000"/>
            <a:ext cx="240000" cy="24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09" name="Card text 3"/>
          <p:cNvSpPr txBox="1"/>
          <p:nvPr/>
        </p:nvSpPr>
        <p:spPr>
          <a:xfrm>
            <a:off x="3590000" y="2850000"/>
            <a:ext cx="3515000" cy="1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1F1F1F"/>
                </a:solidFill>
                <a:latin typeface="Times New Roman"/>
                <a:cs typeface="Times New Roman"/>
              </a:rPr>
              <a:t>Support for larger trees</a:t>
            </a:r>
          </a:p>
        </p:txBody>
      </p:sp>
      <p:sp>
        <p:nvSpPr>
          <p:cNvPr id="110" name="Card 4"/>
          <p:cNvSpPr/>
          <p:nvPr/>
        </p:nvSpPr>
        <p:spPr>
          <a:xfrm>
            <a:off x="7475000" y="2850000"/>
            <a:ext cx="4275000" cy="13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11" name="Marker 4"/>
          <p:cNvSpPr/>
          <p:nvPr/>
        </p:nvSpPr>
        <p:spPr>
          <a:xfrm>
            <a:off x="7705000" y="3380000"/>
            <a:ext cx="240000" cy="24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12" name="Card text 4"/>
          <p:cNvSpPr txBox="1"/>
          <p:nvPr/>
        </p:nvSpPr>
        <p:spPr>
          <a:xfrm>
            <a:off x="8115000" y="2850000"/>
            <a:ext cx="3515000" cy="1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1F1F1F"/>
                </a:solidFill>
                <a:latin typeface="Times New Roman"/>
                <a:cs typeface="Times New Roman"/>
              </a:rPr>
              <a:t>Performance comparison for different tree sizes</a:t>
            </a:r>
          </a:p>
        </p:txBody>
      </p:sp>
      <p:sp>
        <p:nvSpPr>
          <p:cNvPr id="113" name="Card 5"/>
          <p:cNvSpPr/>
          <p:nvPr/>
        </p:nvSpPr>
        <p:spPr>
          <a:xfrm>
            <a:off x="2950000" y="4400000"/>
            <a:ext cx="4275000" cy="13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14" name="Marker 5"/>
          <p:cNvSpPr/>
          <p:nvPr/>
        </p:nvSpPr>
        <p:spPr>
          <a:xfrm>
            <a:off x="3180000" y="4930000"/>
            <a:ext cx="240000" cy="24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15" name="Card text 5"/>
          <p:cNvSpPr txBox="1"/>
          <p:nvPr/>
        </p:nvSpPr>
        <p:spPr>
          <a:xfrm>
            <a:off x="3590000" y="4400000"/>
            <a:ext cx="3515000" cy="1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1F1F1F"/>
                </a:solidFill>
                <a:latin typeface="Times New Roman"/>
                <a:cs typeface="Times New Roman"/>
              </a:rPr>
              <a:t>Additional tree traversal visualizations</a:t>
            </a:r>
          </a:p>
        </p:txBody>
      </p:sp>
      <p:sp>
        <p:nvSpPr>
          <p:cNvPr id="116" name="Card 6"/>
          <p:cNvSpPr/>
          <p:nvPr/>
        </p:nvSpPr>
        <p:spPr>
          <a:xfrm>
            <a:off x="7475000" y="4400000"/>
            <a:ext cx="4275000" cy="13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17" name="Marker 6"/>
          <p:cNvSpPr/>
          <p:nvPr/>
        </p:nvSpPr>
        <p:spPr>
          <a:xfrm>
            <a:off x="7705000" y="4930000"/>
            <a:ext cx="240000" cy="24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18" name="Card text 6"/>
          <p:cNvSpPr txBox="1"/>
          <p:nvPr/>
        </p:nvSpPr>
        <p:spPr>
          <a:xfrm>
            <a:off x="8115000" y="4400000"/>
            <a:ext cx="3515000" cy="1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1F1F1F"/>
                </a:solidFill>
                <a:latin typeface="Times New Roman"/>
                <a:cs typeface="Times New Roman"/>
              </a:rPr>
              <a:t>Improved user interaction</a:t>
            </a:r>
          </a:p>
        </p:txBody>
      </p:sp>
    </p:spTree>
    <p:extLst>
      <p:ext uri="{BB962C8B-B14F-4D97-AF65-F5344CB8AC3E}">
        <p14:creationId xmlns:p14="http://schemas.microsoft.com/office/powerpoint/2010/main" val="27460651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736109" y="187903"/>
            <a:ext cx="47197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CODES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5F3392-621C-D232-692F-81D8355F4D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391" y="1009947"/>
            <a:ext cx="3598090" cy="48381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2A1769-67B9-6E3E-0406-B1ADB157DE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1005" y="1009947"/>
            <a:ext cx="3598090" cy="48381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0E7ABCB-E106-9036-C127-02E82F3FAD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7619" y="1009947"/>
            <a:ext cx="3770332" cy="483810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20F2A-1706-0510-341F-D9078A4DC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B121961-F5D1-8A6F-2B18-C63DC18D0D60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A311A4-FB63-86E3-603D-C1762F196FF3}"/>
              </a:ext>
            </a:extLst>
          </p:cNvPr>
          <p:cNvSpPr txBox="1"/>
          <p:nvPr/>
        </p:nvSpPr>
        <p:spPr>
          <a:xfrm>
            <a:off x="3736109" y="187903"/>
            <a:ext cx="47197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CODES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1F963A-6FB5-87E6-555F-7D843E9828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107" y="879631"/>
            <a:ext cx="3993502" cy="57811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DF65A89-E32C-A6E8-4C72-FBB8374241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936" y="875454"/>
            <a:ext cx="3844212" cy="57946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CB2371A-95BA-ED68-BB1C-65E59E580A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2235" y="875455"/>
            <a:ext cx="3384656" cy="5794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76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0FD89-864F-3585-D3D0-136C5E79E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D5C94AB-9A4E-F862-6B62-8A1A586BF15A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C4527F-A2C6-FBF3-6226-EFA0BED5E3B6}"/>
              </a:ext>
            </a:extLst>
          </p:cNvPr>
          <p:cNvSpPr txBox="1"/>
          <p:nvPr/>
        </p:nvSpPr>
        <p:spPr>
          <a:xfrm>
            <a:off x="3736109" y="187903"/>
            <a:ext cx="47197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CODES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5E606D-38FE-ED87-08F9-CC680A9B28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88" y="998009"/>
            <a:ext cx="3651332" cy="54259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0A34A2-3B1E-1078-6BE7-F0CE529234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5639" y="998009"/>
            <a:ext cx="4066679" cy="54259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73D6C6B-8A52-BFD4-0ECD-AB72C4F19C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7632" y="998009"/>
            <a:ext cx="3713584" cy="5425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644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50EC5-45DC-33C1-57CF-F7BDDC032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B94EAB3-A7DD-441E-BB4F-AA5574E077B1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0583D2-4F81-B9FC-ED89-648CA6AF7418}"/>
              </a:ext>
            </a:extLst>
          </p:cNvPr>
          <p:cNvSpPr txBox="1"/>
          <p:nvPr/>
        </p:nvSpPr>
        <p:spPr>
          <a:xfrm>
            <a:off x="3736109" y="187903"/>
            <a:ext cx="47197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OUTPUT</a:t>
            </a:r>
          </a:p>
          <a:p>
            <a:pPr algn="ctr"/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01" name="Caption 1"/>
          <p:cNvSpPr txBox="1"/>
          <p:nvPr/>
        </p:nvSpPr>
        <p:spPr>
          <a:xfrm>
            <a:off x="2881339" y="5980000"/>
            <a:ext cx="6429322" cy="3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1600" b="0" i="1" dirty="0">
              <a:solidFill>
                <a:srgbClr val="595959"/>
              </a:solidFill>
              <a:latin typeface="Times New Roman"/>
              <a:cs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9E0BD7-726C-87D5-5A2C-33D4C86613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087" y="1372575"/>
            <a:ext cx="5201051" cy="4278877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2FAC0BC-75F2-F626-4239-AD09110170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808" y="1354264"/>
            <a:ext cx="5273938" cy="4315497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0183300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99602-1C96-1C73-41C6-1B08EDBA6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0EB078B-081C-0A27-7B76-F8C1A0AD7822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F71837-B351-DA12-3839-3FA320E869EE}"/>
              </a:ext>
            </a:extLst>
          </p:cNvPr>
          <p:cNvSpPr txBox="1"/>
          <p:nvPr/>
        </p:nvSpPr>
        <p:spPr>
          <a:xfrm>
            <a:off x="3736109" y="187903"/>
            <a:ext cx="47197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OUTPUT</a:t>
            </a:r>
          </a:p>
          <a:p>
            <a:pPr algn="ctr"/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01" name="Caption 1"/>
          <p:cNvSpPr txBox="1"/>
          <p:nvPr/>
        </p:nvSpPr>
        <p:spPr>
          <a:xfrm>
            <a:off x="2879451" y="5980000"/>
            <a:ext cx="6433098" cy="3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1600" b="0" i="1" dirty="0">
              <a:solidFill>
                <a:srgbClr val="595959"/>
              </a:solidFill>
              <a:latin typeface="Times New Roman"/>
              <a:cs typeface="Times New 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92FC69-2CA9-75E8-89B1-140EEF9C28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9150" y="1554317"/>
            <a:ext cx="6233700" cy="3749365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7398432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29DBD-7095-6732-5973-8C82A9B6E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9080ADB-2068-0086-26D0-D869CC54018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8F20E4-36E4-CEBB-0627-5E9A85AE614C}"/>
              </a:ext>
            </a:extLst>
          </p:cNvPr>
          <p:cNvSpPr txBox="1"/>
          <p:nvPr/>
        </p:nvSpPr>
        <p:spPr>
          <a:xfrm>
            <a:off x="3736109" y="187903"/>
            <a:ext cx="47197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OUTPUT</a:t>
            </a:r>
          </a:p>
          <a:p>
            <a:pPr algn="ctr"/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01" name="Caption 1"/>
          <p:cNvSpPr txBox="1"/>
          <p:nvPr/>
        </p:nvSpPr>
        <p:spPr>
          <a:xfrm>
            <a:off x="2861294" y="5980000"/>
            <a:ext cx="6469411" cy="3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1600" b="0" i="1" dirty="0">
              <a:solidFill>
                <a:srgbClr val="595959"/>
              </a:solidFill>
              <a:latin typeface="Times New Roman"/>
              <a:cs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251D21-9BFC-93B9-AC76-5F1693F6D2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7594" y="1315639"/>
            <a:ext cx="6248942" cy="4854361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1394919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6E755-6B65-010A-CCA7-1E3B90F5C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146A1ED-DA94-1938-0B1A-780AB65F8455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2E470F-C3E1-0AEA-1869-49744071926D}"/>
              </a:ext>
            </a:extLst>
          </p:cNvPr>
          <p:cNvSpPr txBox="1"/>
          <p:nvPr/>
        </p:nvSpPr>
        <p:spPr>
          <a:xfrm>
            <a:off x="3736109" y="187903"/>
            <a:ext cx="471978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GEO TAG PHOTOS</a:t>
            </a:r>
          </a:p>
          <a:p>
            <a:pPr algn="ctr"/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9A7ED4-91B6-3310-6AEC-2954949F77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5755" y="1450910"/>
            <a:ext cx="4572000" cy="3429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9A5E67-7E23-8FB3-74E1-1B0BE84708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3930" y="1450911"/>
            <a:ext cx="4572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3521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hatsApp Video 2026-10-11 at 11.58.56 PM">
            <a:hlinkClick r:id="" action="ppaction://media"/>
            <a:extLst>
              <a:ext uri="{FF2B5EF4-FFF2-40B4-BE49-F238E27FC236}">
                <a16:creationId xmlns:a16="http://schemas.microsoft.com/office/drawing/2014/main" id="{F2DB701E-1BFB-109C-F27D-3AAEB40110F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0115" y="1194318"/>
            <a:ext cx="10233200" cy="4861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174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14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622873" y="2750090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646</Words>
  <Application>Microsoft Office PowerPoint</Application>
  <PresentationFormat>Widescreen</PresentationFormat>
  <Paragraphs>136</Paragraphs>
  <Slides>19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Times New Roman</vt:lpstr>
      <vt:lpstr>Office Theme</vt:lpstr>
      <vt:lpstr>Data Structures and Algorithms-3 (25CS2103E) TREE DIAMETER COMPUTATION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Himavanth Sai Ganesh</cp:lastModifiedBy>
  <cp:revision>32</cp:revision>
  <dcterms:created xsi:type="dcterms:W3CDTF">2024-08-29T05:25:00Z</dcterms:created>
  <dcterms:modified xsi:type="dcterms:W3CDTF">2026-10-11T18:30:28Z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